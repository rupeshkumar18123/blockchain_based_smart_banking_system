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2">
  <p:sldMasterIdLst>
    <p:sldMasterId id="2147483648" r:id="rId1"/>
  </p:sldMasterIdLst>
  <p:notesMasterIdLst>
    <p:notesMasterId r:id="rId21"/>
  </p:notesMasterIdLst>
  <p:sldIdLst>
    <p:sldId id="256" r:id="rId2"/>
    <p:sldId id="257" r:id="rId3"/>
    <p:sldId id="323" r:id="rId4"/>
    <p:sldId id="259" r:id="rId5"/>
    <p:sldId id="333" r:id="rId6"/>
    <p:sldId id="263" r:id="rId7"/>
    <p:sldId id="266" r:id="rId8"/>
    <p:sldId id="268" r:id="rId9"/>
    <p:sldId id="325" r:id="rId10"/>
    <p:sldId id="329" r:id="rId11"/>
    <p:sldId id="322" r:id="rId12"/>
    <p:sldId id="331" r:id="rId13"/>
    <p:sldId id="261" r:id="rId14"/>
    <p:sldId id="286" r:id="rId15"/>
    <p:sldId id="330" r:id="rId16"/>
    <p:sldId id="332" r:id="rId17"/>
    <p:sldId id="284" r:id="rId18"/>
    <p:sldId id="324" r:id="rId19"/>
    <p:sldId id="260" r:id="rId20"/>
  </p:sldIdLst>
  <p:sldSz cx="12192000" cy="6858000"/>
  <p:notesSz cx="6858000" cy="9144000"/>
  <p:embeddedFontLst>
    <p:embeddedFont>
      <p:font typeface="Proxima Nova"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i+A+2nPyMWBN538PGGglQVWGl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2" autoAdjust="0"/>
    <p:restoredTop sz="91551" autoAdjust="0"/>
  </p:normalViewPr>
  <p:slideViewPr>
    <p:cSldViewPr snapToGrid="0">
      <p:cViewPr varScale="1">
        <p:scale>
          <a:sx n="81" d="100"/>
          <a:sy n="81" d="100"/>
        </p:scale>
        <p:origin x="682"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5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8923125A-CB9D-DFD6-AAAC-B1936B721844}"/>
            </a:ext>
          </a:extLst>
        </p:cNvPr>
        <p:cNvGrpSpPr/>
        <p:nvPr/>
      </p:nvGrpSpPr>
      <p:grpSpPr>
        <a:xfrm>
          <a:off x="0" y="0"/>
          <a:ext cx="0" cy="0"/>
          <a:chOff x="0" y="0"/>
          <a:chExt cx="0" cy="0"/>
        </a:xfrm>
      </p:grpSpPr>
      <p:sp>
        <p:nvSpPr>
          <p:cNvPr id="96" name="Google Shape;96;p3:notes">
            <a:extLst>
              <a:ext uri="{FF2B5EF4-FFF2-40B4-BE49-F238E27FC236}">
                <a16:creationId xmlns:a16="http://schemas.microsoft.com/office/drawing/2014/main" id="{B83CB17F-437B-D5C8-7CA1-4977AC4568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a:extLst>
              <a:ext uri="{FF2B5EF4-FFF2-40B4-BE49-F238E27FC236}">
                <a16:creationId xmlns:a16="http://schemas.microsoft.com/office/drawing/2014/main" id="{9281BD26-A05E-4323-2769-D3973FE27E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61148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C9EEDF2-9657-ACF9-6AB2-544AB733B1CB}"/>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25EB61E4-54EC-43D2-F538-08F410A08B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1A1EA6B-67AA-7D33-E790-CBE522913E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293138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8BAD25E-3C74-916F-6E75-B61C4A687041}"/>
            </a:ext>
          </a:extLst>
        </p:cNvPr>
        <p:cNvGrpSpPr/>
        <p:nvPr/>
      </p:nvGrpSpPr>
      <p:grpSpPr>
        <a:xfrm>
          <a:off x="0" y="0"/>
          <a:ext cx="0" cy="0"/>
          <a:chOff x="0" y="0"/>
          <a:chExt cx="0" cy="0"/>
        </a:xfrm>
      </p:grpSpPr>
      <p:sp>
        <p:nvSpPr>
          <p:cNvPr id="96" name="Google Shape;96;p3:notes">
            <a:extLst>
              <a:ext uri="{FF2B5EF4-FFF2-40B4-BE49-F238E27FC236}">
                <a16:creationId xmlns:a16="http://schemas.microsoft.com/office/drawing/2014/main" id="{F30BE5FE-3AB5-84A0-4576-BD7D38C781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7" name="Google Shape;97;p3:notes">
            <a:extLst>
              <a:ext uri="{FF2B5EF4-FFF2-40B4-BE49-F238E27FC236}">
                <a16:creationId xmlns:a16="http://schemas.microsoft.com/office/drawing/2014/main" id="{5DDD7B8C-D88B-B2F1-171A-0588BC9459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471951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8C8EED9-B5D8-A19B-13AB-7F7CF9BF40D6}"/>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3E43BC0-34E3-6ABB-526D-D29A7D0527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C3A6F62-C65D-491B-7B4E-C1BBD32BC9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3639514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D3DF4F9-0AB3-3F9A-B236-443BC8F837A8}"/>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538A518-A566-1C7D-B4C5-973B192376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B1C6B77-DA15-162F-921B-7405CEA19E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221036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B1814EA-C9E8-469E-F6DC-EBC85BA029E4}"/>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9FFE736-74AC-5FD3-B53D-FAAA9A51DD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F80A8625-3950-1AF9-F63A-89A4A223A3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330142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62E344C-D171-7971-1ECE-139E03FECC55}"/>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B1F2BAD7-63BA-FE9D-AD62-6FC892A273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F61E9215-EEC8-151A-A958-1750BCC754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609386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E7A8B2D-2F94-38F2-76D9-5016BF16F5D8}"/>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F6688186-EBE2-7ACD-A695-18D92DD17E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2848A7E2-715B-E3A3-F296-96EF293013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76863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62E344C-D171-7971-1ECE-139E03FECC55}"/>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B1F2BAD7-63BA-FE9D-AD62-6FC892A273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F61E9215-EEC8-151A-A958-1750BCC754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840751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5436355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07F5B23-667C-9C5C-4418-FDF9B97B52AF}"/>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321A0089-95C8-3864-243B-9E72024DF3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F9CB818-2B68-CDC8-5C57-4AC80C4B7D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386585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07F5B23-667C-9C5C-4418-FDF9B97B52AF}"/>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321A0089-95C8-3864-243B-9E72024DF3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AF9CB818-2B68-CDC8-5C57-4AC80C4B7D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199445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FB3834C-BA83-C615-AADE-BBA0FA4961B3}"/>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856D23C2-C0A2-2069-3FF7-EFF60C4450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936D9F1-936E-70A6-E3B9-D3B0866D30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11641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2C6687C-3445-5530-4F10-0D115666983B}"/>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47469652-9A91-CEA4-66EF-8D64BE237A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4FF3455C-7B79-247C-4E60-E33AE5145D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3892585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419C91E-252E-649A-C1F2-C76CE577E322}"/>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0FBBA831-F3C1-9478-02CE-2BA0A67D3E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3" name="Google Shape;103;p4:notes">
            <a:extLst>
              <a:ext uri="{FF2B5EF4-FFF2-40B4-BE49-F238E27FC236}">
                <a16:creationId xmlns:a16="http://schemas.microsoft.com/office/drawing/2014/main" id="{A69A0E38-6AA2-84BB-2256-3D886C4A22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843328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jpg"/><Relationship Id="rId7"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doi.org/10.17261/Pressacademia.2024.1945"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2873576" y="3715425"/>
            <a:ext cx="7371088" cy="738633"/>
          </a:xfrm>
          <a:prstGeom prst="rect">
            <a:avLst/>
          </a:prstGeom>
          <a:noFill/>
          <a:ln>
            <a:noFill/>
          </a:ln>
        </p:spPr>
        <p:txBody>
          <a:bodyPr spcFirstLastPara="1" wrap="square" lIns="91425" tIns="91425" rIns="91425" bIns="91425" anchor="t" anchorCtr="0">
            <a:spAutoFit/>
          </a:bodyPr>
          <a:lstStyle/>
          <a:p>
            <a:r>
              <a:rPr lang="en-US" sz="1800" b="0" i="0" u="none" strike="noStrike" cap="none" dirty="0">
                <a:solidFill>
                  <a:schemeClr val="dk1"/>
                </a:solidFill>
                <a:latin typeface="Proxima Nova" panose="020B0604020202020204"/>
                <a:ea typeface="Proxima Nova" panose="020B0604020202020204"/>
                <a:cs typeface="Proxima Nova" panose="020B0604020202020204"/>
                <a:sym typeface="Proxima Nova"/>
              </a:rPr>
              <a:t>Team Member 1: </a:t>
            </a:r>
            <a:r>
              <a:rPr lang="en-US" sz="1800" dirty="0">
                <a:solidFill>
                  <a:schemeClr val="tx1"/>
                </a:solidFill>
                <a:latin typeface="Proxima Nova" panose="020B0604020202020204"/>
                <a:ea typeface="Proxima Nova" panose="020B0604020202020204"/>
                <a:cs typeface="Proxima Nova" panose="020B0604020202020204"/>
                <a:sym typeface="Proxima Nova"/>
              </a:rPr>
              <a:t>Rupesh Kumar  (92201703182) (8EC-3)</a:t>
            </a:r>
            <a:endParaRPr lang="en-US" sz="1800" dirty="0">
              <a:solidFill>
                <a:schemeClr val="tx1"/>
              </a:solidFill>
              <a:latin typeface="Proxima Nova" panose="020B0604020202020204"/>
            </a:endParaRPr>
          </a:p>
          <a:p>
            <a:r>
              <a:rPr lang="en-US" sz="1800" b="0" i="0" u="none" strike="noStrike" cap="none" dirty="0">
                <a:solidFill>
                  <a:schemeClr val="dk1"/>
                </a:solidFill>
                <a:latin typeface="Proxima Nova" panose="020B0604020202020204"/>
                <a:ea typeface="Proxima Nova" panose="020B0604020202020204"/>
                <a:cs typeface="Proxima Nova" panose="020B0604020202020204"/>
                <a:sym typeface="Proxima Nova"/>
              </a:rPr>
              <a:t>Team Member 2: </a:t>
            </a:r>
            <a:r>
              <a:rPr lang="en-US" sz="1800" dirty="0">
                <a:solidFill>
                  <a:schemeClr val="tx1"/>
                </a:solidFill>
                <a:latin typeface="Proxima Nova" panose="020B0604020202020204"/>
                <a:ea typeface="Proxima Nova" panose="020B0604020202020204"/>
                <a:cs typeface="Proxima Nova" panose="020B0604020202020204"/>
                <a:sym typeface="Proxima Nova"/>
              </a:rPr>
              <a:t>Darshan Thakkar(92310103059) (8TC-1)</a:t>
            </a:r>
            <a:endParaRPr lang="en-US" sz="1800" dirty="0">
              <a:solidFill>
                <a:schemeClr val="tx1"/>
              </a:solidFill>
              <a:latin typeface="Proxima Nova" panose="020B0604020202020204"/>
            </a:endParaRPr>
          </a:p>
        </p:txBody>
      </p:sp>
      <p:sp>
        <p:nvSpPr>
          <p:cNvPr id="89" name="Google Shape;89;p2"/>
          <p:cNvSpPr txBox="1"/>
          <p:nvPr/>
        </p:nvSpPr>
        <p:spPr>
          <a:xfrm>
            <a:off x="2498073" y="2555935"/>
            <a:ext cx="7195800" cy="1090042"/>
          </a:xfrm>
          <a:prstGeom prst="rect">
            <a:avLst/>
          </a:prstGeom>
          <a:noFill/>
          <a:ln>
            <a:noFill/>
          </a:ln>
        </p:spPr>
        <p:txBody>
          <a:bodyPr spcFirstLastPara="1" wrap="square" lIns="0" tIns="12700" rIns="0" bIns="0" anchor="ctr" anchorCtr="0">
            <a:spAutoFit/>
          </a:bodyPr>
          <a:lstStyle/>
          <a:p>
            <a:pPr algn="ctr"/>
            <a:r>
              <a:rPr lang="en-US" sz="2400" b="1" dirty="0" err="1"/>
              <a:t>BankSEC</a:t>
            </a:r>
            <a:r>
              <a:rPr lang="en-US" sz="2400" b="1" dirty="0"/>
              <a:t>: Blockchain-enabled Intelligent Scheme for Secure Smart Banking Environment</a:t>
            </a:r>
            <a:endParaRPr lang="en-IN" sz="2400" dirty="0"/>
          </a:p>
          <a:p>
            <a:pPr marL="12700" lvl="0" algn="ctr">
              <a:buClr>
                <a:srgbClr val="04A2B9"/>
              </a:buClr>
              <a:buSzPts val="2800"/>
            </a:pPr>
            <a:r>
              <a:rPr lang="en-US" sz="2200" b="0" i="0" u="none" strike="noStrike" cap="none" dirty="0">
                <a:solidFill>
                  <a:srgbClr val="04A2B9"/>
                </a:solidFill>
                <a:latin typeface="Proxima Nova" panose="020B0604020202020204"/>
                <a:ea typeface="Proxima Nova" panose="020B0604020202020204"/>
                <a:cs typeface="Proxima Nova" panose="020B0604020202020204"/>
                <a:sym typeface="Proxima Nova"/>
              </a:rPr>
              <a:t>Team ID: </a:t>
            </a:r>
            <a:r>
              <a:rPr lang="en-US" sz="2200" dirty="0">
                <a:solidFill>
                  <a:srgbClr val="04A2B9"/>
                </a:solidFill>
                <a:latin typeface="Proxima Nova" panose="020B0604020202020204"/>
                <a:ea typeface="Proxima Nova" panose="020B0604020202020204"/>
                <a:cs typeface="Proxima Nova" panose="020B0604020202020204"/>
                <a:sym typeface="Proxima Nova"/>
              </a:rPr>
              <a:t>8PRO_095</a:t>
            </a:r>
            <a:endParaRPr sz="2200" b="0" i="0" u="none" strike="noStrike" cap="none" dirty="0">
              <a:solidFill>
                <a:srgbClr val="FF0000"/>
              </a:solidFill>
              <a:latin typeface="Proxima Nova" panose="020B0604020202020204"/>
              <a:ea typeface="Proxima Nova" panose="020B0604020202020204"/>
              <a:cs typeface="Proxima Nova" panose="020B0604020202020204"/>
              <a:sym typeface="Proxima Nova"/>
            </a:endParaRPr>
          </a:p>
        </p:txBody>
      </p:sp>
      <p:sp>
        <p:nvSpPr>
          <p:cNvPr id="90" name="Google Shape;90;p2"/>
          <p:cNvSpPr txBox="1"/>
          <p:nvPr/>
        </p:nvSpPr>
        <p:spPr>
          <a:xfrm>
            <a:off x="5459825" y="4709449"/>
            <a:ext cx="12723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rgbClr val="595959"/>
                </a:solidFill>
                <a:latin typeface="Proxima Nova" panose="020B0604020202020204"/>
                <a:ea typeface="Proxima Nova" panose="020B0604020202020204"/>
                <a:cs typeface="Proxima Nova" panose="020B0604020202020204"/>
                <a:sym typeface="Proxima Nova"/>
              </a:rPr>
              <a:t>Guided By</a:t>
            </a:r>
            <a:endParaRPr dirty="0">
              <a:latin typeface="Proxima Nova" panose="020B0604020202020204"/>
            </a:endParaRPr>
          </a:p>
        </p:txBody>
      </p:sp>
      <p:sp>
        <p:nvSpPr>
          <p:cNvPr id="91" name="Google Shape;91;p2"/>
          <p:cNvSpPr txBox="1"/>
          <p:nvPr/>
        </p:nvSpPr>
        <p:spPr>
          <a:xfrm>
            <a:off x="3570382" y="5036549"/>
            <a:ext cx="5293886" cy="461635"/>
          </a:xfrm>
          <a:prstGeom prst="rect">
            <a:avLst/>
          </a:prstGeom>
          <a:noFill/>
          <a:ln>
            <a:noFill/>
          </a:ln>
        </p:spPr>
        <p:txBody>
          <a:bodyPr spcFirstLastPara="1" wrap="square" lIns="91425" tIns="91425" rIns="91425" bIns="91425" anchor="t" anchorCtr="0">
            <a:spAutoFit/>
          </a:bodyPr>
          <a:lstStyle/>
          <a:p>
            <a:pPr lvl="0"/>
            <a:r>
              <a:rPr lang="en-US" sz="1800" dirty="0">
                <a:solidFill>
                  <a:schemeClr val="dk1"/>
                </a:solidFill>
                <a:latin typeface="Proxima Nova" panose="020B0604020202020204"/>
                <a:ea typeface="Proxima Nova" panose="020B0604020202020204"/>
                <a:cs typeface="Proxima Nova" panose="020B0604020202020204"/>
                <a:sym typeface="Proxima Nova"/>
              </a:rPr>
              <a:t>Internal Guide Name: Dr. Sushil Kumar Singh</a:t>
            </a:r>
            <a:endParaRPr lang="en-US" sz="1800" b="0" i="0" u="none" strike="noStrike" cap="none" dirty="0">
              <a:solidFill>
                <a:schemeClr val="dk1"/>
              </a:solidFill>
              <a:latin typeface="Proxima Nova" panose="020B0604020202020204"/>
              <a:ea typeface="Proxima Nova" panose="020B0604020202020204"/>
              <a:cs typeface="Proxima Nova" panose="020B0604020202020204"/>
              <a:sym typeface="Proxima Nova"/>
            </a:endParaRPr>
          </a:p>
        </p:txBody>
      </p:sp>
      <p:sp>
        <p:nvSpPr>
          <p:cNvPr id="92" name="Google Shape;92;p2"/>
          <p:cNvSpPr txBox="1"/>
          <p:nvPr/>
        </p:nvSpPr>
        <p:spPr>
          <a:xfrm>
            <a:off x="3193926" y="5441197"/>
            <a:ext cx="3023400" cy="4002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endParaRPr dirty="0">
              <a:latin typeface="Proxima Nova" panose="020B0604020202020204"/>
            </a:endParaRPr>
          </a:p>
        </p:txBody>
      </p:sp>
      <p:sp>
        <p:nvSpPr>
          <p:cNvPr id="93" name="Google Shape;93;p2"/>
          <p:cNvSpPr txBox="1"/>
          <p:nvPr/>
        </p:nvSpPr>
        <p:spPr>
          <a:xfrm>
            <a:off x="1848881" y="1020693"/>
            <a:ext cx="8736889" cy="1533753"/>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a:buNone/>
            </a:pPr>
            <a:r>
              <a:rPr lang="en-US" sz="3200" b="1" i="0" u="none" strike="noStrike" cap="none" dirty="0">
                <a:solidFill>
                  <a:srgbClr val="04A2B9"/>
                </a:solidFill>
                <a:latin typeface="Proxima Nova" panose="020B0604020202020204"/>
                <a:ea typeface="Proxima Nova" panose="020B0604020202020204"/>
                <a:cs typeface="Proxima Nova" panose="020B0604020202020204"/>
                <a:sym typeface="Proxima Nova"/>
              </a:rPr>
              <a:t>Major Project-I</a:t>
            </a:r>
            <a:r>
              <a:rPr lang="en-US" sz="3200" b="1" dirty="0">
                <a:solidFill>
                  <a:srgbClr val="04A2B9"/>
                </a:solidFill>
                <a:latin typeface="Proxima Nova" panose="020B0604020202020204"/>
                <a:ea typeface="Proxima Nova" panose="020B0604020202020204"/>
                <a:cs typeface="Proxima Nova" panose="020B0604020202020204"/>
                <a:sym typeface="Proxima Nova"/>
              </a:rPr>
              <a:t>I</a:t>
            </a:r>
            <a:r>
              <a:rPr lang="en-US" sz="3200" b="1" i="0" u="none" strike="noStrike" cap="none" dirty="0">
                <a:solidFill>
                  <a:srgbClr val="04A2B9"/>
                </a:solidFill>
                <a:latin typeface="Proxima Nova" panose="020B0604020202020204"/>
                <a:ea typeface="Proxima Nova" panose="020B0604020202020204"/>
                <a:cs typeface="Proxima Nova" panose="020B0604020202020204"/>
                <a:sym typeface="Proxima Nova"/>
              </a:rPr>
              <a:t> (01CE0807), Semester 8</a:t>
            </a:r>
            <a:endParaRPr sz="3200" b="1" dirty="0">
              <a:latin typeface="Proxima Nova" panose="020B0604020202020204"/>
            </a:endParaRPr>
          </a:p>
          <a:p>
            <a:pPr marL="12700" lvl="0" algn="ctr">
              <a:spcBef>
                <a:spcPts val="100"/>
              </a:spcBef>
              <a:buClr>
                <a:srgbClr val="04A2B9"/>
              </a:buClr>
              <a:buSzPts val="2200"/>
            </a:pPr>
            <a:r>
              <a:rPr lang="en-US" sz="2200" b="0" i="0" u="none" strike="noStrike" cap="none" dirty="0">
                <a:solidFill>
                  <a:srgbClr val="04A2B9"/>
                </a:solidFill>
                <a:latin typeface="Proxima Nova" panose="020B0604020202020204"/>
                <a:ea typeface="Proxima Nova" panose="020B0604020202020204"/>
                <a:cs typeface="Proxima Nova" panose="020B0604020202020204"/>
                <a:sym typeface="Proxima Nova"/>
              </a:rPr>
              <a:t>Review  3</a:t>
            </a:r>
            <a:br>
              <a:rPr lang="en-US" sz="2200" b="0" i="0" u="none" strike="noStrike" cap="none" dirty="0">
                <a:solidFill>
                  <a:srgbClr val="04A2B9"/>
                </a:solidFill>
                <a:latin typeface="Proxima Nova" panose="020B0604020202020204"/>
                <a:ea typeface="Proxima Nova" panose="020B0604020202020204"/>
                <a:cs typeface="Proxima Nova" panose="020B0604020202020204"/>
                <a:sym typeface="Proxima Nova"/>
              </a:rPr>
            </a:br>
            <a:r>
              <a:rPr lang="en-US" sz="2200" b="0" i="0" u="none" strike="noStrike" cap="none" dirty="0">
                <a:solidFill>
                  <a:srgbClr val="04A2B9"/>
                </a:solidFill>
                <a:latin typeface="Proxima Nova" panose="020B0604020202020204"/>
                <a:ea typeface="Proxima Nova" panose="020B0604020202020204"/>
                <a:cs typeface="Proxima Nova" panose="020B0604020202020204"/>
                <a:sym typeface="Proxima Nova"/>
              </a:rPr>
              <a:t>(</a:t>
            </a:r>
            <a:r>
              <a:rPr lang="en-US" sz="2200" dirty="0">
                <a:solidFill>
                  <a:srgbClr val="04A2B9"/>
                </a:solidFill>
                <a:latin typeface="Proxima Nova" panose="020B0604020202020204"/>
                <a:ea typeface="Proxima Nova" panose="020B0604020202020204"/>
                <a:cs typeface="Proxima Nova" panose="020B0604020202020204"/>
                <a:sym typeface="Proxima Nova"/>
              </a:rPr>
              <a:t>31</a:t>
            </a:r>
            <a:r>
              <a:rPr lang="en-US" sz="2200" b="0" i="0" u="none" strike="noStrike" cap="none" dirty="0">
                <a:solidFill>
                  <a:srgbClr val="04A2B9"/>
                </a:solidFill>
                <a:latin typeface="Proxima Nova" panose="020B0604020202020204"/>
                <a:ea typeface="Proxima Nova" panose="020B0604020202020204"/>
                <a:cs typeface="Proxima Nova" panose="020B0604020202020204"/>
                <a:sym typeface="Proxima Nova"/>
              </a:rPr>
              <a:t>/01/2026)</a:t>
            </a:r>
            <a:br>
              <a:rPr lang="en-US" sz="2200" b="0" i="0" u="none" strike="noStrike" cap="none" dirty="0">
                <a:solidFill>
                  <a:srgbClr val="04A2B9"/>
                </a:solidFill>
                <a:latin typeface="Proxima Nova" panose="020B0604020202020204"/>
                <a:ea typeface="Proxima Nova" panose="020B0604020202020204"/>
                <a:cs typeface="Proxima Nova" panose="020B0604020202020204"/>
                <a:sym typeface="Proxima Nova"/>
              </a:rPr>
            </a:br>
            <a:endParaRPr sz="2200" b="0" i="0" u="none" strike="noStrike" cap="none" dirty="0">
              <a:solidFill>
                <a:schemeClr val="dk1"/>
              </a:solidFill>
              <a:latin typeface="Proxima Nova" panose="020B0604020202020204"/>
              <a:ea typeface="Proxima Nova" panose="020B0604020202020204"/>
              <a:cs typeface="Proxima Nova" panose="020B0604020202020204"/>
              <a:sym typeface="Proxima Nova"/>
            </a:endParaRPr>
          </a:p>
        </p:txBody>
      </p:sp>
      <p:sp>
        <p:nvSpPr>
          <p:cNvPr id="94" name="Google Shape;94;p2"/>
          <p:cNvSpPr txBox="1"/>
          <p:nvPr/>
        </p:nvSpPr>
        <p:spPr>
          <a:xfrm>
            <a:off x="1947283" y="5643368"/>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a:buNone/>
            </a:pPr>
            <a:r>
              <a:rPr lang="en-US" sz="2400" b="0" i="0" u="none" strike="noStrike" cap="none" dirty="0">
                <a:solidFill>
                  <a:srgbClr val="04A2B9"/>
                </a:solidFill>
                <a:latin typeface="Proxima Nova" panose="020B0604020202020204"/>
                <a:ea typeface="Proxima Nova" panose="020B0604020202020204"/>
                <a:cs typeface="Proxima Nova" panose="020B0604020202020204"/>
                <a:sym typeface="Proxima Nova"/>
              </a:rPr>
              <a:t>Department of Computer Engineering,</a:t>
            </a:r>
            <a:br>
              <a:rPr lang="en-US" sz="2400" b="0" i="0" u="none" strike="noStrike" cap="none" dirty="0">
                <a:solidFill>
                  <a:srgbClr val="04A2B9"/>
                </a:solidFill>
                <a:latin typeface="Proxima Nova" panose="020B0604020202020204"/>
                <a:ea typeface="Proxima Nova" panose="020B0604020202020204"/>
                <a:cs typeface="Proxima Nova" panose="020B0604020202020204"/>
                <a:sym typeface="Proxima Nova"/>
              </a:rPr>
            </a:br>
            <a:r>
              <a:rPr lang="en-US" sz="2400" b="0" i="0" u="none" strike="noStrike" cap="none" dirty="0">
                <a:solidFill>
                  <a:srgbClr val="04A2B9"/>
                </a:solidFill>
                <a:latin typeface="Proxima Nova" panose="020B0604020202020204"/>
                <a:ea typeface="Proxima Nova" panose="020B0604020202020204"/>
                <a:cs typeface="Proxima Nova" panose="020B0604020202020204"/>
                <a:sym typeface="Proxima Nova"/>
              </a:rPr>
              <a:t>Faculty of Engineering &amp; Technology</a:t>
            </a:r>
            <a:r>
              <a:rPr lang="en-US" sz="3600" b="0" i="0" u="none" strike="noStrike" cap="none" dirty="0">
                <a:solidFill>
                  <a:srgbClr val="04A2B9"/>
                </a:solidFill>
                <a:latin typeface="Proxima Nova" panose="020B0604020202020204"/>
                <a:ea typeface="Proxima Nova" panose="020B0604020202020204"/>
                <a:cs typeface="Proxima Nova" panose="020B0604020202020204"/>
                <a:sym typeface="Proxima Nova"/>
              </a:rPr>
              <a:t> </a:t>
            </a:r>
            <a:endParaRPr sz="3600" b="0" i="0" u="none" strike="noStrike" cap="none" dirty="0">
              <a:solidFill>
                <a:schemeClr val="dk1"/>
              </a:solidFill>
              <a:latin typeface="Proxima Nova" panose="020B0604020202020204"/>
              <a:ea typeface="Proxima Nova" panose="020B0604020202020204"/>
              <a:cs typeface="Proxima Nova" panose="020B0604020202020204"/>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
          <a:extLst>
            <a:ext uri="{FF2B5EF4-FFF2-40B4-BE49-F238E27FC236}">
              <a16:creationId xmlns:a16="http://schemas.microsoft.com/office/drawing/2014/main" id="{9591695D-81AF-A8EB-8F28-1CFED4DBD8B1}"/>
            </a:ext>
          </a:extLst>
        </p:cNvPr>
        <p:cNvGrpSpPr/>
        <p:nvPr/>
      </p:nvGrpSpPr>
      <p:grpSpPr>
        <a:xfrm>
          <a:off x="0" y="0"/>
          <a:ext cx="0" cy="0"/>
          <a:chOff x="0" y="0"/>
          <a:chExt cx="0" cy="0"/>
        </a:xfrm>
      </p:grpSpPr>
      <p:sp>
        <p:nvSpPr>
          <p:cNvPr id="99" name="Google Shape;99;p3">
            <a:extLst>
              <a:ext uri="{FF2B5EF4-FFF2-40B4-BE49-F238E27FC236}">
                <a16:creationId xmlns:a16="http://schemas.microsoft.com/office/drawing/2014/main" id="{B437CFF3-9C73-C7FC-3FFE-62B78ED996D5}"/>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Outline</a:t>
            </a:r>
            <a:endParaRPr sz="2400" b="1" dirty="0">
              <a:latin typeface="Proxima Nova" panose="020B0604020202020204"/>
              <a:ea typeface="Proxima Nova" panose="020B0604020202020204"/>
              <a:cs typeface="Proxima Nova" panose="020B0604020202020204"/>
              <a:sym typeface="Proxima Nova"/>
            </a:endParaRPr>
          </a:p>
        </p:txBody>
      </p:sp>
      <p:sp>
        <p:nvSpPr>
          <p:cNvPr id="100" name="Google Shape;100;p3">
            <a:extLst>
              <a:ext uri="{FF2B5EF4-FFF2-40B4-BE49-F238E27FC236}">
                <a16:creationId xmlns:a16="http://schemas.microsoft.com/office/drawing/2014/main" id="{01531369-3292-D199-1017-6F25416E3491}"/>
              </a:ext>
            </a:extLst>
          </p:cNvPr>
          <p:cNvSpPr txBox="1"/>
          <p:nvPr/>
        </p:nvSpPr>
        <p:spPr>
          <a:xfrm>
            <a:off x="626449" y="1093123"/>
            <a:ext cx="8468390" cy="5786169"/>
          </a:xfrm>
          <a:prstGeom prst="rect">
            <a:avLst/>
          </a:prstGeom>
          <a:noFill/>
          <a:ln>
            <a:noFill/>
          </a:ln>
        </p:spPr>
        <p:txBody>
          <a:bodyPr spcFirstLastPara="1" wrap="square" lIns="91425" tIns="91425" rIns="91425" bIns="91425" anchor="t" anchorCtr="0">
            <a:spAutoFit/>
          </a:bodyPr>
          <a:lstStyle/>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Introduction</a:t>
            </a:r>
          </a:p>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Abstract</a:t>
            </a:r>
          </a:p>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Objective</a:t>
            </a:r>
          </a:p>
          <a:p>
            <a:pPr marL="59690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Motivation</a:t>
            </a:r>
          </a:p>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Literature Review</a:t>
            </a:r>
          </a:p>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Flowchart</a:t>
            </a:r>
          </a:p>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Gantt chart</a:t>
            </a:r>
          </a:p>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Tools and technologies</a:t>
            </a:r>
          </a:p>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Challenges</a:t>
            </a:r>
          </a:p>
          <a:p>
            <a:pPr marL="59690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 Methodology / Algorithm Description </a:t>
            </a:r>
          </a:p>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Future implementation</a:t>
            </a:r>
          </a:p>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Conclusion</a:t>
            </a:r>
          </a:p>
          <a:p>
            <a:pPr marL="596900" lvl="0" indent="-457200">
              <a:lnSpc>
                <a:spcPct val="140000"/>
              </a:lnSpc>
              <a:buClr>
                <a:schemeClr val="dk1"/>
              </a:buClr>
              <a:buSzPts val="1400"/>
              <a:buFont typeface="Arial" panose="020B0604020202020204" pitchFamily="34" charset="0"/>
              <a:buChar char="•"/>
            </a:pPr>
            <a:r>
              <a:rPr lang="en-US" sz="2000" dirty="0">
                <a:solidFill>
                  <a:schemeClr val="dk1"/>
                </a:solidFill>
                <a:latin typeface="Proxima Nova" panose="020B0604020202020204" charset="0"/>
                <a:ea typeface="Times New Roman"/>
                <a:cs typeface="Times New Roman"/>
                <a:sym typeface="Times New Roman"/>
              </a:rPr>
              <a:t>References</a:t>
            </a:r>
            <a:endParaRPr lang="en-US" sz="2000" dirty="0">
              <a:solidFill>
                <a:schemeClr val="tx1"/>
              </a:solidFill>
              <a:latin typeface="Proxima Nova" panose="020B0604020202020204"/>
            </a:endParaRPr>
          </a:p>
        </p:txBody>
      </p:sp>
    </p:spTree>
    <p:extLst>
      <p:ext uri="{BB962C8B-B14F-4D97-AF65-F5344CB8AC3E}">
        <p14:creationId xmlns:p14="http://schemas.microsoft.com/office/powerpoint/2010/main" val="478183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60" y="309562"/>
            <a:ext cx="4923860"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Review 1 : suggestion</a:t>
            </a:r>
            <a:endParaRPr sz="2400" b="1" dirty="0">
              <a:latin typeface="Proxima Nova" panose="020B0604020202020204"/>
              <a:ea typeface="Proxima Nova" panose="020B0604020202020204"/>
              <a:cs typeface="Proxima Nova" panose="020B0604020202020204"/>
              <a:sym typeface="Proxima Nova"/>
            </a:endParaRPr>
          </a:p>
        </p:txBody>
      </p:sp>
      <p:sp>
        <p:nvSpPr>
          <p:cNvPr id="106" name="Google Shape;106;p4"/>
          <p:cNvSpPr txBox="1"/>
          <p:nvPr/>
        </p:nvSpPr>
        <p:spPr>
          <a:xfrm>
            <a:off x="696681" y="1350787"/>
            <a:ext cx="10975616" cy="492412"/>
          </a:xfrm>
          <a:prstGeom prst="rect">
            <a:avLst/>
          </a:prstGeom>
          <a:noFill/>
          <a:ln>
            <a:noFill/>
          </a:ln>
        </p:spPr>
        <p:txBody>
          <a:bodyPr spcFirstLastPara="1" wrap="square" lIns="91425" tIns="91425" rIns="91425" bIns="91425" anchor="t" anchorCtr="0">
            <a:spAutoFit/>
          </a:bodyPr>
          <a:lstStyle/>
          <a:p>
            <a:pPr marL="342900" lvl="0" indent="-342900" algn="just">
              <a:buSzPts val="17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Need to start Research Paper(Prof. Jigar </a:t>
            </a:r>
            <a:r>
              <a:rPr lang="en-US" sz="2000" b="1" dirty="0" err="1">
                <a:latin typeface="Times New Roman" panose="02020603050405020304" pitchFamily="18" charset="0"/>
                <a:cs typeface="Times New Roman" panose="02020603050405020304" pitchFamily="18" charset="0"/>
              </a:rPr>
              <a:t>dave</a:t>
            </a:r>
            <a:r>
              <a:rPr lang="en-US" sz="2000" b="1">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B12F0BC-5EEA-0871-1591-0AACE04692E8}"/>
              </a:ext>
            </a:extLst>
          </p:cNvPr>
          <p:cNvPicPr>
            <a:picLocks noChangeAspect="1"/>
          </p:cNvPicPr>
          <p:nvPr/>
        </p:nvPicPr>
        <p:blipFill>
          <a:blip r:embed="rId4"/>
          <a:stretch>
            <a:fillRect/>
          </a:stretch>
        </p:blipFill>
        <p:spPr>
          <a:xfrm>
            <a:off x="3440783" y="1929029"/>
            <a:ext cx="4631703" cy="45330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A0B098D2-4DA6-6F78-0937-8B00CEBE56BB}"/>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4ECCC02E-31E8-AD0F-2D45-8B93F82136EE}"/>
              </a:ext>
            </a:extLst>
          </p:cNvPr>
          <p:cNvSpPr txBox="1">
            <a:spLocks noGrp="1"/>
          </p:cNvSpPr>
          <p:nvPr>
            <p:ph type="title"/>
          </p:nvPr>
        </p:nvSpPr>
        <p:spPr>
          <a:xfrm>
            <a:off x="534260" y="309562"/>
            <a:ext cx="4923860"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Introduction</a:t>
            </a:r>
            <a:endParaRPr sz="2400" b="1" dirty="0">
              <a:latin typeface="Proxima Nova" panose="020B0604020202020204"/>
              <a:ea typeface="Proxima Nova" panose="020B0604020202020204"/>
              <a:cs typeface="Proxima Nova" panose="020B0604020202020204"/>
              <a:sym typeface="Proxima Nova"/>
            </a:endParaRPr>
          </a:p>
        </p:txBody>
      </p:sp>
      <p:sp>
        <p:nvSpPr>
          <p:cNvPr id="106" name="Google Shape;106;p4">
            <a:extLst>
              <a:ext uri="{FF2B5EF4-FFF2-40B4-BE49-F238E27FC236}">
                <a16:creationId xmlns:a16="http://schemas.microsoft.com/office/drawing/2014/main" id="{A2C7ADAE-8D17-CC46-65A5-ED060916A46A}"/>
              </a:ext>
            </a:extLst>
          </p:cNvPr>
          <p:cNvSpPr txBox="1"/>
          <p:nvPr/>
        </p:nvSpPr>
        <p:spPr>
          <a:xfrm>
            <a:off x="432731" y="1652445"/>
            <a:ext cx="10975616" cy="3570178"/>
          </a:xfrm>
          <a:prstGeom prst="rect">
            <a:avLst/>
          </a:prstGeom>
          <a:noFill/>
          <a:ln>
            <a:noFill/>
          </a:ln>
        </p:spPr>
        <p:txBody>
          <a:bodyPr spcFirstLastPara="1" wrap="square" lIns="91425" tIns="91425" rIns="91425" bIns="91425" anchor="t" anchorCtr="0">
            <a:spAutoFit/>
          </a:bodyPr>
          <a:lstStyle/>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Digital banking is growing rapidly but faces major issues like </a:t>
            </a:r>
            <a:r>
              <a:rPr lang="en-US" sz="2000" b="1" dirty="0">
                <a:latin typeface="Times New Roman" panose="02020603050405020304" pitchFamily="18" charset="0"/>
                <a:cs typeface="Times New Roman" panose="02020603050405020304" pitchFamily="18" charset="0"/>
              </a:rPr>
              <a:t>security risks, data breaches, and identity theft</a:t>
            </a:r>
            <a:r>
              <a:rPr lang="en-US" sz="20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Traditional systems rely on </a:t>
            </a:r>
            <a:r>
              <a:rPr lang="en-US" sz="2000" b="1" dirty="0">
                <a:latin typeface="Times New Roman" panose="02020603050405020304" pitchFamily="18" charset="0"/>
                <a:cs typeface="Times New Roman" panose="02020603050405020304" pitchFamily="18" charset="0"/>
              </a:rPr>
              <a:t>centralized servers</a:t>
            </a:r>
            <a:r>
              <a:rPr lang="en-US" sz="2000" dirty="0">
                <a:latin typeface="Times New Roman" panose="02020603050405020304" pitchFamily="18" charset="0"/>
                <a:cs typeface="Times New Roman" panose="02020603050405020304" pitchFamily="18" charset="0"/>
              </a:rPr>
              <a:t>, which are vulnerable to attacks.</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proposed system introduces a </a:t>
            </a:r>
            <a:r>
              <a:rPr lang="en-US" sz="2000" b="1" dirty="0">
                <a:latin typeface="Times New Roman" panose="02020603050405020304" pitchFamily="18" charset="0"/>
                <a:cs typeface="Times New Roman" panose="02020603050405020304" pitchFamily="18" charset="0"/>
              </a:rPr>
              <a:t>Blockchain-Based smart-Banking Platform</a:t>
            </a:r>
            <a:r>
              <a:rPr lang="en-US" sz="2000" dirty="0">
                <a:latin typeface="Times New Roman" panose="02020603050405020304" pitchFamily="18" charset="0"/>
                <a:cs typeface="Times New Roman" panose="02020603050405020304" pitchFamily="18" charset="0"/>
              </a:rPr>
              <a:t> for safer and transparent banking.</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Combines </a:t>
            </a:r>
            <a:r>
              <a:rPr lang="en-US" sz="2000" b="1" dirty="0">
                <a:latin typeface="Times New Roman" panose="02020603050405020304" pitchFamily="18" charset="0"/>
                <a:cs typeface="Times New Roman" panose="02020603050405020304" pitchFamily="18" charset="0"/>
              </a:rPr>
              <a:t>Blockchain, Biometrics, and Artificial Intelligence (AI)</a:t>
            </a:r>
            <a:r>
              <a:rPr lang="en-US" sz="2000" dirty="0">
                <a:latin typeface="Times New Roman" panose="02020603050405020304" pitchFamily="18" charset="0"/>
                <a:cs typeface="Times New Roman" panose="02020603050405020304" pitchFamily="18" charset="0"/>
              </a:rPr>
              <a:t> for enhanced security and trust.</a:t>
            </a:r>
          </a:p>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Biometric authentication</a:t>
            </a:r>
            <a:r>
              <a:rPr lang="en-US" sz="2000" dirty="0">
                <a:latin typeface="Times New Roman" panose="02020603050405020304" pitchFamily="18" charset="0"/>
                <a:cs typeface="Times New Roman" panose="02020603050405020304" pitchFamily="18" charset="0"/>
              </a:rPr>
              <a:t> (fingerprint/face) replaces passwords for easy and secure access.</a:t>
            </a:r>
          </a:p>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Decentralized Identity (DID)</a:t>
            </a:r>
            <a:r>
              <a:rPr lang="en-US" sz="2000" dirty="0">
                <a:latin typeface="Times New Roman" panose="02020603050405020304" pitchFamily="18" charset="0"/>
                <a:cs typeface="Times New Roman" panose="02020603050405020304" pitchFamily="18" charset="0"/>
              </a:rPr>
              <a:t> gives users full control over their verified digital identity.</a:t>
            </a:r>
          </a:p>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Smart contracts</a:t>
            </a:r>
            <a:r>
              <a:rPr lang="en-US" sz="2000" dirty="0">
                <a:latin typeface="Times New Roman" panose="02020603050405020304" pitchFamily="18" charset="0"/>
                <a:cs typeface="Times New Roman" panose="02020603050405020304" pitchFamily="18" charset="0"/>
              </a:rPr>
              <a:t> automate banking services like loans and transactions.</a:t>
            </a:r>
          </a:p>
          <a:p>
            <a:pPr marL="342900" indent="-342900">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Aims to make e-banking </a:t>
            </a:r>
            <a:r>
              <a:rPr lang="en-US" sz="2000" b="1" dirty="0">
                <a:latin typeface="Times New Roman" panose="02020603050405020304" pitchFamily="18" charset="0"/>
                <a:cs typeface="Times New Roman" panose="02020603050405020304" pitchFamily="18" charset="0"/>
              </a:rPr>
              <a:t>secure, transparent, and user-friendly</a:t>
            </a:r>
            <a:r>
              <a:rPr lang="en-US" sz="2000" dirty="0">
                <a:latin typeface="Times New Roman" panose="02020603050405020304" pitchFamily="18" charset="0"/>
                <a:cs typeface="Times New Roman" panose="02020603050405020304" pitchFamily="18" charset="0"/>
              </a:rPr>
              <a:t>.</a:t>
            </a:r>
          </a:p>
          <a:p>
            <a:pPr lvl="0" algn="just">
              <a:buSzPts val="1700"/>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0986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
          <a:extLst>
            <a:ext uri="{FF2B5EF4-FFF2-40B4-BE49-F238E27FC236}">
              <a16:creationId xmlns:a16="http://schemas.microsoft.com/office/drawing/2014/main" id="{2D23386E-EC69-8DA6-06A1-6B4FF99373F7}"/>
            </a:ext>
          </a:extLst>
        </p:cNvPr>
        <p:cNvGrpSpPr/>
        <p:nvPr/>
      </p:nvGrpSpPr>
      <p:grpSpPr>
        <a:xfrm>
          <a:off x="0" y="0"/>
          <a:ext cx="0" cy="0"/>
          <a:chOff x="0" y="0"/>
          <a:chExt cx="0" cy="0"/>
        </a:xfrm>
      </p:grpSpPr>
      <p:sp>
        <p:nvSpPr>
          <p:cNvPr id="99" name="Google Shape;99;p3">
            <a:extLst>
              <a:ext uri="{FF2B5EF4-FFF2-40B4-BE49-F238E27FC236}">
                <a16:creationId xmlns:a16="http://schemas.microsoft.com/office/drawing/2014/main" id="{82EE2796-6F4A-DF1E-91F3-76C2E3C2D014}"/>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Abstract</a:t>
            </a:r>
            <a:endParaRPr sz="2400" b="1" dirty="0">
              <a:latin typeface="Proxima Nova" panose="020B0604020202020204"/>
              <a:ea typeface="Proxima Nova" panose="020B0604020202020204"/>
              <a:cs typeface="Proxima Nova" panose="020B0604020202020204"/>
              <a:sym typeface="Proxima Nova"/>
            </a:endParaRPr>
          </a:p>
        </p:txBody>
      </p:sp>
      <p:sp>
        <p:nvSpPr>
          <p:cNvPr id="100" name="Google Shape;100;p3">
            <a:extLst>
              <a:ext uri="{FF2B5EF4-FFF2-40B4-BE49-F238E27FC236}">
                <a16:creationId xmlns:a16="http://schemas.microsoft.com/office/drawing/2014/main" id="{67C81029-4BBB-A9E9-E49C-9ECBB497AFF5}"/>
              </a:ext>
            </a:extLst>
          </p:cNvPr>
          <p:cNvSpPr txBox="1"/>
          <p:nvPr/>
        </p:nvSpPr>
        <p:spPr>
          <a:xfrm>
            <a:off x="534259" y="1285489"/>
            <a:ext cx="10708738" cy="5262949"/>
          </a:xfrm>
          <a:prstGeom prst="rect">
            <a:avLst/>
          </a:prstGeom>
          <a:noFill/>
          <a:ln>
            <a:noFill/>
          </a:ln>
        </p:spPr>
        <p:txBody>
          <a:bodyPr spcFirstLastPara="1" wrap="square" lIns="91425" tIns="91425" rIns="91425" bIns="91425" anchor="t" anchorCtr="0">
            <a:spAutoFit/>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rapid evolution of digital banking presents significant challenges related to security, trust, and transparency in conventional smart banking systems, which often depend on centralized infrastructure and are consequently susceptible to fraud, identity theft, and data breaches.</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To address above challenges, we propose an Intelligent scheme for secure Smart Banking Environment based on blockchain, named </a:t>
            </a:r>
            <a:r>
              <a:rPr lang="en-US" sz="2200" dirty="0" err="1">
                <a:latin typeface="Times New Roman" panose="02020603050405020304" pitchFamily="18" charset="0"/>
                <a:cs typeface="Times New Roman" panose="02020603050405020304" pitchFamily="18" charset="0"/>
              </a:rPr>
              <a:t>BankSEC</a:t>
            </a:r>
            <a:r>
              <a:rPr lang="en-US" sz="2200" dirty="0">
                <a:latin typeface="Times New Roman" panose="02020603050405020304" pitchFamily="18" charset="0"/>
                <a:cs typeface="Times New Roman" panose="02020603050405020304" pitchFamily="18" charset="0"/>
              </a:rPr>
              <a:t>, which aims to eliminate single points of failure and enhance trust in digital transactions. The proposed system stores all financial activities on a decentralized, tamper-resistant ledger, ensuring integrity, transparency, and auditability. </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Biometric authentication such as fingerprint  recognition is used instead of passwords to ensure strong and reliable identity validation. </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Decentralized Identity (DID) mechanism further enables users to control their verified identity and minimize repeated KYC checks. Artificial intelligence is integrated to analyze transaction patterns in real time and detect suspicious behavior, thereby preventing fraud before it occurs.  </a:t>
            </a:r>
            <a:r>
              <a:rPr lang="en-IN" sz="2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8056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CDE45F86-0CE3-74C6-8E02-2B86852CA7B6}"/>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089F3071-BE68-91F9-8874-68CEE93926C4}"/>
              </a:ext>
            </a:extLst>
          </p:cNvPr>
          <p:cNvSpPr txBox="1">
            <a:spLocks noGrp="1"/>
          </p:cNvSpPr>
          <p:nvPr>
            <p:ph type="title"/>
          </p:nvPr>
        </p:nvSpPr>
        <p:spPr>
          <a:xfrm>
            <a:off x="608192" y="309562"/>
            <a:ext cx="4914041"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Objective </a:t>
            </a:r>
            <a:endParaRPr sz="2400" b="1" dirty="0">
              <a:latin typeface="Proxima Nova" panose="020B0604020202020204"/>
              <a:ea typeface="Proxima Nova" panose="020B0604020202020204"/>
              <a:cs typeface="Proxima Nova" panose="020B0604020202020204"/>
              <a:sym typeface="Proxima Nova"/>
            </a:endParaRPr>
          </a:p>
        </p:txBody>
      </p:sp>
      <p:sp>
        <p:nvSpPr>
          <p:cNvPr id="2" name="Rectangle 1">
            <a:extLst>
              <a:ext uri="{FF2B5EF4-FFF2-40B4-BE49-F238E27FC236}">
                <a16:creationId xmlns:a16="http://schemas.microsoft.com/office/drawing/2014/main" id="{F3049298-12C6-4A05-9EA2-8DC73B43BA60}"/>
              </a:ext>
            </a:extLst>
          </p:cNvPr>
          <p:cNvSpPr>
            <a:spLocks noChangeArrowheads="1"/>
          </p:cNvSpPr>
          <p:nvPr/>
        </p:nvSpPr>
        <p:spPr bwMode="auto">
          <a:xfrm>
            <a:off x="681805" y="1545158"/>
            <a:ext cx="873187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overcome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and privacy issues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traditional e-banking systems.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fraud and data breaches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using blockchain’s decentralized structure.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replace passwords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biometric authentication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safer and easier access.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user trust and transparency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digital financial transactions.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give users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 over their digital identity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through Decentralized Identity (DID).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 core banking operations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loans and transactions using smart contracts.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build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modern, secure, and user-centric</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banking system for the digital era.</a:t>
            </a:r>
          </a:p>
        </p:txBody>
      </p:sp>
    </p:spTree>
    <p:extLst>
      <p:ext uri="{BB962C8B-B14F-4D97-AF65-F5344CB8AC3E}">
        <p14:creationId xmlns:p14="http://schemas.microsoft.com/office/powerpoint/2010/main" val="4030711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4A218A6B-883D-8B31-9521-DB066EA50BFF}"/>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ECC1D1FB-E417-CB95-895F-E1B9268885DF}"/>
              </a:ext>
            </a:extLst>
          </p:cNvPr>
          <p:cNvSpPr txBox="1">
            <a:spLocks noGrp="1"/>
          </p:cNvSpPr>
          <p:nvPr>
            <p:ph type="title"/>
          </p:nvPr>
        </p:nvSpPr>
        <p:spPr>
          <a:xfrm>
            <a:off x="534260" y="309562"/>
            <a:ext cx="1993040"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Motivation </a:t>
            </a:r>
            <a:endParaRPr sz="2400" b="1" dirty="0">
              <a:latin typeface="Proxima Nova" panose="020B0604020202020204"/>
              <a:ea typeface="Proxima Nova" panose="020B0604020202020204"/>
              <a:cs typeface="Proxima Nova" panose="020B0604020202020204"/>
              <a:sym typeface="Proxima Nova"/>
            </a:endParaRPr>
          </a:p>
        </p:txBody>
      </p:sp>
      <p:sp>
        <p:nvSpPr>
          <p:cNvPr id="2" name="Rectangle 1">
            <a:extLst>
              <a:ext uri="{FF2B5EF4-FFF2-40B4-BE49-F238E27FC236}">
                <a16:creationId xmlns:a16="http://schemas.microsoft.com/office/drawing/2014/main" id="{F5EDA5F2-84EB-417F-9E78-34465AFB9A25}"/>
              </a:ext>
            </a:extLst>
          </p:cNvPr>
          <p:cNvSpPr>
            <a:spLocks noChangeArrowheads="1"/>
          </p:cNvSpPr>
          <p:nvPr/>
        </p:nvSpPr>
        <p:spPr bwMode="auto">
          <a:xfrm>
            <a:off x="829937" y="1600944"/>
            <a:ext cx="769313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Rapid growth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banking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increases need for strong security.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Rising cases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fraud, hacking, and data theft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 customer trust.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systems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more vulnerable to cyberattacks.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face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repeated KYC checks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complex login processes.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transparent, and easy-to-use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banking platform.</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Blockchain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data safety and transparency.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Biometrics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quick and reliable user authentication.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 to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trust and confidence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digital banking systems.</a:t>
            </a:r>
          </a:p>
        </p:txBody>
      </p:sp>
    </p:spTree>
    <p:extLst>
      <p:ext uri="{BB962C8B-B14F-4D97-AF65-F5344CB8AC3E}">
        <p14:creationId xmlns:p14="http://schemas.microsoft.com/office/powerpoint/2010/main" val="804069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A6E972A4-A6B2-2CA0-863D-F7E763294419}"/>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E17AB00C-34D1-F4DA-4D36-47AAAD11186D}"/>
              </a:ext>
            </a:extLst>
          </p:cNvPr>
          <p:cNvSpPr txBox="1">
            <a:spLocks noGrp="1"/>
          </p:cNvSpPr>
          <p:nvPr>
            <p:ph type="title"/>
          </p:nvPr>
        </p:nvSpPr>
        <p:spPr>
          <a:xfrm>
            <a:off x="534259" y="309562"/>
            <a:ext cx="3329817"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Literature Review </a:t>
            </a:r>
            <a:endParaRPr sz="2400" b="1" dirty="0">
              <a:latin typeface="Proxima Nova" panose="020B0604020202020204"/>
              <a:ea typeface="Proxima Nova" panose="020B0604020202020204"/>
              <a:cs typeface="Proxima Nova" panose="020B0604020202020204"/>
              <a:sym typeface="Proxima Nova"/>
            </a:endParaRPr>
          </a:p>
        </p:txBody>
      </p:sp>
      <p:sp>
        <p:nvSpPr>
          <p:cNvPr id="2" name="Rectangle 1">
            <a:extLst>
              <a:ext uri="{FF2B5EF4-FFF2-40B4-BE49-F238E27FC236}">
                <a16:creationId xmlns:a16="http://schemas.microsoft.com/office/drawing/2014/main" id="{53EC534C-14BA-EA88-2E8D-A2316BD212CC}"/>
              </a:ext>
            </a:extLst>
          </p:cNvPr>
          <p:cNvSpPr>
            <a:spLocks noChangeArrowheads="1"/>
          </p:cNvSpPr>
          <p:nvPr/>
        </p:nvSpPr>
        <p:spPr bwMode="auto">
          <a:xfrm>
            <a:off x="534259" y="1258641"/>
            <a:ext cx="100198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buClrTx/>
            </a:pPr>
            <a:endParaRPr lang="en-GB" sz="2000" b="1"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D19526A2-3394-F44D-0401-6B9FDD02322F}"/>
              </a:ext>
            </a:extLst>
          </p:cNvPr>
          <p:cNvGraphicFramePr>
            <a:graphicFrameLocks noGrp="1"/>
          </p:cNvGraphicFramePr>
          <p:nvPr>
            <p:extLst>
              <p:ext uri="{D42A27DB-BD31-4B8C-83A1-F6EECF244321}">
                <p14:modId xmlns:p14="http://schemas.microsoft.com/office/powerpoint/2010/main" val="1969355732"/>
              </p:ext>
            </p:extLst>
          </p:nvPr>
        </p:nvGraphicFramePr>
        <p:xfrm>
          <a:off x="534259" y="1046375"/>
          <a:ext cx="11123482" cy="5279006"/>
        </p:xfrm>
        <a:graphic>
          <a:graphicData uri="http://schemas.openxmlformats.org/drawingml/2006/table">
            <a:tbl>
              <a:tblPr firstRow="1" firstCol="1" bandRow="1">
                <a:tableStyleId>{5C22544A-7EE6-4342-B048-85BDC9FD1C3A}</a:tableStyleId>
              </a:tblPr>
              <a:tblGrid>
                <a:gridCol w="1577577">
                  <a:extLst>
                    <a:ext uri="{9D8B030D-6E8A-4147-A177-3AD203B41FA5}">
                      <a16:colId xmlns:a16="http://schemas.microsoft.com/office/drawing/2014/main" val="3108205392"/>
                    </a:ext>
                  </a:extLst>
                </a:gridCol>
                <a:gridCol w="1880224">
                  <a:extLst>
                    <a:ext uri="{9D8B030D-6E8A-4147-A177-3AD203B41FA5}">
                      <a16:colId xmlns:a16="http://schemas.microsoft.com/office/drawing/2014/main" val="934425464"/>
                    </a:ext>
                  </a:extLst>
                </a:gridCol>
                <a:gridCol w="1616790">
                  <a:extLst>
                    <a:ext uri="{9D8B030D-6E8A-4147-A177-3AD203B41FA5}">
                      <a16:colId xmlns:a16="http://schemas.microsoft.com/office/drawing/2014/main" val="3321253050"/>
                    </a:ext>
                  </a:extLst>
                </a:gridCol>
                <a:gridCol w="2047132">
                  <a:extLst>
                    <a:ext uri="{9D8B030D-6E8A-4147-A177-3AD203B41FA5}">
                      <a16:colId xmlns:a16="http://schemas.microsoft.com/office/drawing/2014/main" val="3488005424"/>
                    </a:ext>
                  </a:extLst>
                </a:gridCol>
                <a:gridCol w="4001759">
                  <a:extLst>
                    <a:ext uri="{9D8B030D-6E8A-4147-A177-3AD203B41FA5}">
                      <a16:colId xmlns:a16="http://schemas.microsoft.com/office/drawing/2014/main" val="2634287821"/>
                    </a:ext>
                  </a:extLst>
                </a:gridCol>
              </a:tblGrid>
              <a:tr h="335816">
                <a:tc>
                  <a:txBody>
                    <a:bodyPr/>
                    <a:lstStyle/>
                    <a:p>
                      <a:pPr algn="ctr">
                        <a:lnSpc>
                          <a:spcPct val="115000"/>
                        </a:lnSpc>
                        <a:spcAft>
                          <a:spcPts val="1000"/>
                        </a:spcAft>
                        <a:buNone/>
                      </a:pPr>
                      <a:r>
                        <a:rPr lang="en-IN" sz="1100" kern="100" dirty="0">
                          <a:effectLst/>
                        </a:rPr>
                        <a:t>Paper</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Method</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Technology</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Addressed Issue</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Limitation</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extLst>
                  <a:ext uri="{0D108BD9-81ED-4DB2-BD59-A6C34878D82A}">
                    <a16:rowId xmlns:a16="http://schemas.microsoft.com/office/drawing/2014/main" val="2788137741"/>
                  </a:ext>
                </a:extLst>
              </a:tr>
              <a:tr h="986548">
                <a:tc>
                  <a:txBody>
                    <a:bodyPr/>
                    <a:lstStyle/>
                    <a:p>
                      <a:pPr algn="ctr">
                        <a:lnSpc>
                          <a:spcPct val="115000"/>
                        </a:lnSpc>
                        <a:spcAft>
                          <a:spcPts val="1000"/>
                        </a:spcAft>
                        <a:buNone/>
                      </a:pPr>
                      <a:r>
                        <a:rPr lang="en-IN" sz="1100" kern="100" dirty="0">
                          <a:effectLst/>
                        </a:rPr>
                        <a:t>Tsai et al.[1]</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Mutual authentication scheme using digital signatures and logic postulates.</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Blockchain, Smart Contracts.</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Online banking spoofing, tampering, and mutual trust gaps.</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Limited scalability regarding traffic flow; lacks cross-chain interoperability[2].</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extLst>
                  <a:ext uri="{0D108BD9-81ED-4DB2-BD59-A6C34878D82A}">
                    <a16:rowId xmlns:a16="http://schemas.microsoft.com/office/drawing/2014/main" val="1313422313"/>
                  </a:ext>
                </a:extLst>
              </a:tr>
              <a:tr h="661182">
                <a:tc>
                  <a:txBody>
                    <a:bodyPr/>
                    <a:lstStyle/>
                    <a:p>
                      <a:pPr algn="ctr">
                        <a:lnSpc>
                          <a:spcPct val="115000"/>
                        </a:lnSpc>
                        <a:spcAft>
                          <a:spcPts val="1000"/>
                        </a:spcAft>
                        <a:buNone/>
                      </a:pPr>
                      <a:r>
                        <a:rPr lang="en-IN" sz="1100" kern="100">
                          <a:effectLst/>
                        </a:rPr>
                        <a:t>Salem et al.[3]</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Identity management using deep learning for feature extraction.</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Private Blockchain, Smart Contracts, </a:t>
                      </a:r>
                      <a:r>
                        <a:rPr lang="en-IN" sz="1100" kern="100" dirty="0" err="1">
                          <a:effectLst/>
                        </a:rPr>
                        <a:t>FaceNet</a:t>
                      </a:r>
                      <a:r>
                        <a:rPr lang="en-IN" sz="1100" kern="100" dirty="0">
                          <a:effectLst/>
                        </a:rPr>
                        <a:t>.</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Privacy risks of centralized storage and data breaches.</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Implemented as a proof-of-concept; limited testing on diverse real-world datasets[4].</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extLst>
                  <a:ext uri="{0D108BD9-81ED-4DB2-BD59-A6C34878D82A}">
                    <a16:rowId xmlns:a16="http://schemas.microsoft.com/office/drawing/2014/main" val="1079698894"/>
                  </a:ext>
                </a:extLst>
              </a:tr>
              <a:tr h="986548">
                <a:tc>
                  <a:txBody>
                    <a:bodyPr/>
                    <a:lstStyle/>
                    <a:p>
                      <a:pPr algn="ctr">
                        <a:lnSpc>
                          <a:spcPct val="115000"/>
                        </a:lnSpc>
                        <a:spcAft>
                          <a:spcPts val="1000"/>
                        </a:spcAft>
                        <a:buNone/>
                      </a:pPr>
                      <a:r>
                        <a:rPr lang="en-IN" sz="1100" kern="100">
                          <a:effectLst/>
                        </a:rPr>
                        <a:t>Song et al.[5]</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BFTEM: Trust mechanism recording parameters during block transmission.</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Blockchain, Edge Computing.</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Malicious user </a:t>
                      </a:r>
                      <a:r>
                        <a:rPr lang="en-IN" sz="1100" kern="100" dirty="0" err="1">
                          <a:effectLst/>
                        </a:rPr>
                        <a:t>behavior</a:t>
                      </a:r>
                      <a:r>
                        <a:rPr lang="en-IN" sz="1100" kern="100" dirty="0">
                          <a:effectLst/>
                        </a:rPr>
                        <a:t> and inaccuracies in trust evaluation.</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High storage complexity for hash operations; relies on edge server availability[6].</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extLst>
                  <a:ext uri="{0D108BD9-81ED-4DB2-BD59-A6C34878D82A}">
                    <a16:rowId xmlns:a16="http://schemas.microsoft.com/office/drawing/2014/main" val="3769545971"/>
                  </a:ext>
                </a:extLst>
              </a:tr>
              <a:tr h="661182">
                <a:tc>
                  <a:txBody>
                    <a:bodyPr/>
                    <a:lstStyle/>
                    <a:p>
                      <a:pPr algn="ctr">
                        <a:lnSpc>
                          <a:spcPct val="115000"/>
                        </a:lnSpc>
                        <a:spcAft>
                          <a:spcPts val="1000"/>
                        </a:spcAft>
                        <a:buNone/>
                      </a:pPr>
                      <a:r>
                        <a:rPr lang="en-IN" sz="1100" kern="100">
                          <a:effectLst/>
                        </a:rPr>
                        <a:t>Lee and Jeong[7]</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BDAS: Protocol that splits and fragments biometric templates.</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Blockchain, Distributed Storage.</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Biometric data theft and single points of failure in storage.</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Focuses on storage security rather than real-time </a:t>
                      </a:r>
                      <a:r>
                        <a:rPr lang="en-IN" sz="1100" kern="100" dirty="0" err="1">
                          <a:effectLst/>
                        </a:rPr>
                        <a:t>behavioral</a:t>
                      </a:r>
                      <a:r>
                        <a:rPr lang="en-IN" sz="1100" kern="100" dirty="0">
                          <a:effectLst/>
                        </a:rPr>
                        <a:t> analysis; reassembly adds latency[8],[9].</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extLst>
                  <a:ext uri="{0D108BD9-81ED-4DB2-BD59-A6C34878D82A}">
                    <a16:rowId xmlns:a16="http://schemas.microsoft.com/office/drawing/2014/main" val="2650675153"/>
                  </a:ext>
                </a:extLst>
              </a:tr>
              <a:tr h="661182">
                <a:tc>
                  <a:txBody>
                    <a:bodyPr/>
                    <a:lstStyle/>
                    <a:p>
                      <a:pPr algn="ctr">
                        <a:lnSpc>
                          <a:spcPct val="115000"/>
                        </a:lnSpc>
                        <a:spcAft>
                          <a:spcPts val="1000"/>
                        </a:spcAft>
                        <a:buNone/>
                      </a:pPr>
                      <a:r>
                        <a:rPr lang="en-IN" sz="1100" kern="100">
                          <a:effectLst/>
                        </a:rPr>
                        <a:t>Ahmed[10]</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Quantitative cost analysis using the Random Forest Method.</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Blockchain Adoption Analysis, Machine Learning.</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Quantifying the reduction of banking processing and fraud costs.</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Restricted sample size (UAE banks); difficulty accessing raw transaction data[11].</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extLst>
                  <a:ext uri="{0D108BD9-81ED-4DB2-BD59-A6C34878D82A}">
                    <a16:rowId xmlns:a16="http://schemas.microsoft.com/office/drawing/2014/main" val="1674243098"/>
                  </a:ext>
                </a:extLst>
              </a:tr>
              <a:tr h="986548">
                <a:tc>
                  <a:txBody>
                    <a:bodyPr/>
                    <a:lstStyle/>
                    <a:p>
                      <a:pPr algn="ctr">
                        <a:lnSpc>
                          <a:spcPct val="115000"/>
                        </a:lnSpc>
                        <a:spcAft>
                          <a:spcPts val="1000"/>
                        </a:spcAft>
                        <a:buNone/>
                      </a:pPr>
                      <a:r>
                        <a:rPr lang="en-IN" sz="1100" kern="100">
                          <a:effectLst/>
                        </a:rPr>
                        <a:t>BankSEC (Proposed)</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Intelligent security scheme combining DID, biometrics, and real-time analysis.</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a:effectLst/>
                        </a:rPr>
                        <a:t>Blockchain, Biometrics, AI, Smart Contracts.</a:t>
                      </a:r>
                      <a:endParaRPr lang="en-IN"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r>
                        <a:rPr lang="en-IN" sz="1100" kern="100" dirty="0">
                          <a:effectLst/>
                        </a:rPr>
                        <a:t>Eliminates single points of failure, enhances user control (DID), and provides real-time fraud prevention.</a:t>
                      </a: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tc>
                  <a:txBody>
                    <a:bodyPr/>
                    <a:lstStyle/>
                    <a:p>
                      <a:pPr algn="ctr">
                        <a:lnSpc>
                          <a:spcPct val="115000"/>
                        </a:lnSpc>
                        <a:spcAft>
                          <a:spcPts val="1000"/>
                        </a:spcAft>
                        <a:buNone/>
                      </a:pPr>
                      <a:br>
                        <a:rPr lang="en-IN" sz="1100" kern="100" dirty="0">
                          <a:effectLst/>
                        </a:rPr>
                      </a:br>
                      <a:endParaRPr lang="en-IN"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5494" marR="5494" marT="5494" marB="5494" anchor="ctr"/>
                </a:tc>
                <a:extLst>
                  <a:ext uri="{0D108BD9-81ED-4DB2-BD59-A6C34878D82A}">
                    <a16:rowId xmlns:a16="http://schemas.microsoft.com/office/drawing/2014/main" val="1175688000"/>
                  </a:ext>
                </a:extLst>
              </a:tr>
            </a:tbl>
          </a:graphicData>
        </a:graphic>
      </p:graphicFrame>
    </p:spTree>
    <p:extLst>
      <p:ext uri="{BB962C8B-B14F-4D97-AF65-F5344CB8AC3E}">
        <p14:creationId xmlns:p14="http://schemas.microsoft.com/office/powerpoint/2010/main" val="4134580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078CA6BD-86B2-37C7-C43C-B421E275C89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45A888D6-6D3C-E55B-DFD3-5B25325AF465}"/>
              </a:ext>
            </a:extLst>
          </p:cNvPr>
          <p:cNvSpPr txBox="1">
            <a:spLocks noGrp="1"/>
          </p:cNvSpPr>
          <p:nvPr>
            <p:ph type="title"/>
          </p:nvPr>
        </p:nvSpPr>
        <p:spPr>
          <a:xfrm>
            <a:off x="534260" y="330913"/>
            <a:ext cx="4875940" cy="32060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IN" sz="2000" b="1" dirty="0"/>
              <a:t>Operational Flowchart of the </a:t>
            </a:r>
            <a:r>
              <a:rPr lang="en-IN" sz="2000" b="1" dirty="0" err="1"/>
              <a:t>BankSEC</a:t>
            </a:r>
            <a:r>
              <a:rPr lang="en-IN" sz="2000" b="1" dirty="0"/>
              <a:t> System</a:t>
            </a:r>
            <a:endParaRPr sz="2000" b="1" dirty="0">
              <a:latin typeface="Proxima Nova" panose="020B0604020202020204"/>
              <a:ea typeface="Proxima Nova" panose="020B0604020202020204"/>
              <a:cs typeface="Proxima Nova" panose="020B0604020202020204"/>
              <a:sym typeface="Proxima Nova"/>
            </a:endParaRPr>
          </a:p>
        </p:txBody>
      </p:sp>
      <p:pic>
        <p:nvPicPr>
          <p:cNvPr id="5" name="Picture 4">
            <a:extLst>
              <a:ext uri="{FF2B5EF4-FFF2-40B4-BE49-F238E27FC236}">
                <a16:creationId xmlns:a16="http://schemas.microsoft.com/office/drawing/2014/main" id="{EEF3D380-9998-4FE1-86E1-A4F094D0FF66}"/>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4261" y="1343877"/>
            <a:ext cx="10787332" cy="5183209"/>
          </a:xfrm>
          <a:prstGeom prst="rect">
            <a:avLst/>
          </a:prstGeom>
          <a:noFill/>
          <a:ln>
            <a:noFill/>
          </a:ln>
        </p:spPr>
      </p:pic>
    </p:spTree>
    <p:extLst>
      <p:ext uri="{BB962C8B-B14F-4D97-AF65-F5344CB8AC3E}">
        <p14:creationId xmlns:p14="http://schemas.microsoft.com/office/powerpoint/2010/main" val="2054441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CCE922AE-C702-C221-89B6-082BDBB4E259}"/>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CFE3396D-4E5B-0282-7862-E10787DAB156}"/>
              </a:ext>
            </a:extLst>
          </p:cNvPr>
          <p:cNvSpPr txBox="1">
            <a:spLocks noGrp="1"/>
          </p:cNvSpPr>
          <p:nvPr>
            <p:ph type="title"/>
          </p:nvPr>
        </p:nvSpPr>
        <p:spPr>
          <a:xfrm>
            <a:off x="534260" y="309562"/>
            <a:ext cx="4875940"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Project Scheduling Gantt Chart</a:t>
            </a:r>
            <a:endParaRPr sz="2400" b="1" dirty="0">
              <a:latin typeface="Proxima Nova" panose="020B0604020202020204"/>
              <a:ea typeface="Proxima Nova" panose="020B0604020202020204"/>
              <a:cs typeface="Proxima Nova" panose="020B0604020202020204"/>
              <a:sym typeface="Proxima Nova"/>
            </a:endParaRPr>
          </a:p>
        </p:txBody>
      </p:sp>
      <p:pic>
        <p:nvPicPr>
          <p:cNvPr id="3" name="Picture 2">
            <a:extLst>
              <a:ext uri="{FF2B5EF4-FFF2-40B4-BE49-F238E27FC236}">
                <a16:creationId xmlns:a16="http://schemas.microsoft.com/office/drawing/2014/main" id="{BE11768C-A3F9-D80E-8953-5418B7D41875}"/>
              </a:ext>
            </a:extLst>
          </p:cNvPr>
          <p:cNvPicPr>
            <a:picLocks noChangeAspect="1"/>
          </p:cNvPicPr>
          <p:nvPr/>
        </p:nvPicPr>
        <p:blipFill>
          <a:blip r:embed="rId4"/>
          <a:stretch>
            <a:fillRect/>
          </a:stretch>
        </p:blipFill>
        <p:spPr>
          <a:xfrm>
            <a:off x="245806" y="1264133"/>
            <a:ext cx="11661059" cy="5185827"/>
          </a:xfrm>
          <a:prstGeom prst="rect">
            <a:avLst/>
          </a:prstGeom>
        </p:spPr>
      </p:pic>
    </p:spTree>
    <p:extLst>
      <p:ext uri="{BB962C8B-B14F-4D97-AF65-F5344CB8AC3E}">
        <p14:creationId xmlns:p14="http://schemas.microsoft.com/office/powerpoint/2010/main" val="4150784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078CA6BD-86B2-37C7-C43C-B421E275C89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45A888D6-6D3C-E55B-DFD3-5B25325AF465}"/>
              </a:ext>
            </a:extLst>
          </p:cNvPr>
          <p:cNvSpPr txBox="1">
            <a:spLocks noGrp="1"/>
          </p:cNvSpPr>
          <p:nvPr>
            <p:ph type="title"/>
          </p:nvPr>
        </p:nvSpPr>
        <p:spPr>
          <a:xfrm>
            <a:off x="534260" y="309562"/>
            <a:ext cx="4875940"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Screenshot</a:t>
            </a:r>
            <a:endParaRPr sz="2400" b="1" dirty="0">
              <a:latin typeface="Proxima Nova" panose="020B0604020202020204"/>
              <a:ea typeface="Proxima Nova" panose="020B0604020202020204"/>
              <a:cs typeface="Proxima Nova" panose="020B0604020202020204"/>
              <a:sym typeface="Proxima Nova"/>
            </a:endParaRPr>
          </a:p>
        </p:txBody>
      </p:sp>
      <p:pic>
        <p:nvPicPr>
          <p:cNvPr id="3" name="Picture 2">
            <a:extLst>
              <a:ext uri="{FF2B5EF4-FFF2-40B4-BE49-F238E27FC236}">
                <a16:creationId xmlns:a16="http://schemas.microsoft.com/office/drawing/2014/main" id="{05A9FAEE-FC7B-43EA-B982-E1E2F2D2D169}"/>
              </a:ext>
            </a:extLst>
          </p:cNvPr>
          <p:cNvPicPr>
            <a:picLocks noChangeAspect="1"/>
          </p:cNvPicPr>
          <p:nvPr/>
        </p:nvPicPr>
        <p:blipFill>
          <a:blip r:embed="rId4"/>
          <a:stretch>
            <a:fillRect/>
          </a:stretch>
        </p:blipFill>
        <p:spPr>
          <a:xfrm>
            <a:off x="294968" y="1098139"/>
            <a:ext cx="5407742" cy="2834763"/>
          </a:xfrm>
          <a:prstGeom prst="rect">
            <a:avLst/>
          </a:prstGeom>
        </p:spPr>
      </p:pic>
      <p:pic>
        <p:nvPicPr>
          <p:cNvPr id="5" name="Picture 4">
            <a:extLst>
              <a:ext uri="{FF2B5EF4-FFF2-40B4-BE49-F238E27FC236}">
                <a16:creationId xmlns:a16="http://schemas.microsoft.com/office/drawing/2014/main" id="{AC648EB7-3DB3-4EC1-939A-31CF968A7875}"/>
              </a:ext>
            </a:extLst>
          </p:cNvPr>
          <p:cNvPicPr>
            <a:picLocks noChangeAspect="1"/>
          </p:cNvPicPr>
          <p:nvPr/>
        </p:nvPicPr>
        <p:blipFill>
          <a:blip r:embed="rId5"/>
          <a:stretch>
            <a:fillRect/>
          </a:stretch>
        </p:blipFill>
        <p:spPr>
          <a:xfrm>
            <a:off x="1917291" y="3795249"/>
            <a:ext cx="7570837" cy="2852178"/>
          </a:xfrm>
          <a:prstGeom prst="rect">
            <a:avLst/>
          </a:prstGeom>
        </p:spPr>
      </p:pic>
      <p:pic>
        <p:nvPicPr>
          <p:cNvPr id="7" name="Picture 6">
            <a:extLst>
              <a:ext uri="{FF2B5EF4-FFF2-40B4-BE49-F238E27FC236}">
                <a16:creationId xmlns:a16="http://schemas.microsoft.com/office/drawing/2014/main" id="{589E56BB-00F0-4E39-9E5F-B3A63FDEB164}"/>
              </a:ext>
            </a:extLst>
          </p:cNvPr>
          <p:cNvPicPr>
            <a:picLocks noChangeAspect="1"/>
          </p:cNvPicPr>
          <p:nvPr/>
        </p:nvPicPr>
        <p:blipFill>
          <a:blip r:embed="rId6"/>
          <a:stretch>
            <a:fillRect/>
          </a:stretch>
        </p:blipFill>
        <p:spPr>
          <a:xfrm>
            <a:off x="5608089" y="1098138"/>
            <a:ext cx="5407742" cy="2834763"/>
          </a:xfrm>
          <a:prstGeom prst="rect">
            <a:avLst/>
          </a:prstGeom>
        </p:spPr>
      </p:pic>
    </p:spTree>
    <p:extLst>
      <p:ext uri="{BB962C8B-B14F-4D97-AF65-F5344CB8AC3E}">
        <p14:creationId xmlns:p14="http://schemas.microsoft.com/office/powerpoint/2010/main" val="353267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8" y="309562"/>
            <a:ext cx="350679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Tools &amp; Technologies</a:t>
            </a:r>
            <a:endParaRPr sz="2400" b="1" dirty="0">
              <a:latin typeface="Proxima Nova" panose="020B0604020202020204"/>
              <a:ea typeface="Proxima Nova" panose="020B0604020202020204"/>
              <a:cs typeface="Proxima Nova" panose="020B0604020202020204"/>
              <a:sym typeface="Proxima Nova"/>
            </a:endParaRPr>
          </a:p>
        </p:txBody>
      </p:sp>
      <p:sp>
        <p:nvSpPr>
          <p:cNvPr id="106" name="Google Shape;106;p4"/>
          <p:cNvSpPr txBox="1"/>
          <p:nvPr/>
        </p:nvSpPr>
        <p:spPr>
          <a:xfrm>
            <a:off x="345722" y="820252"/>
            <a:ext cx="11057973" cy="3037724"/>
          </a:xfrm>
          <a:prstGeom prst="rect">
            <a:avLst/>
          </a:prstGeom>
          <a:noFill/>
          <a:ln>
            <a:noFill/>
          </a:ln>
        </p:spPr>
        <p:txBody>
          <a:bodyPr spcFirstLastPara="1" wrap="square" lIns="91425" tIns="91425" rIns="91425" bIns="91425" anchor="t" anchorCtr="0">
            <a:spAutoFit/>
          </a:bodyPr>
          <a:lstStyle/>
          <a:p>
            <a:pPr marL="342900" marR="0" lvl="0" indent="-342900" algn="just">
              <a:lnSpc>
                <a:spcPct val="103000"/>
              </a:lnSpc>
              <a:buFont typeface="Arial" panose="020B0604020202020204" pitchFamily="34" charset="0"/>
              <a:buChar char="•"/>
            </a:pPr>
            <a:endParaRPr lang="en-US" sz="2000" dirty="0">
              <a:solidFill>
                <a:srgbClr val="000000"/>
              </a:solidFill>
              <a:effectLst/>
              <a:latin typeface="Proxima Nova" panose="020B0604020202020204"/>
              <a:ea typeface="Times New Roman" panose="02020603050405020304" pitchFamily="18" charset="0"/>
            </a:endParaRPr>
          </a:p>
          <a:p>
            <a:pPr marL="342900" marR="0" lvl="0" indent="-342900" algn="just">
              <a:lnSpc>
                <a:spcPct val="103000"/>
              </a:lnSpc>
              <a:buFont typeface="Arial" panose="020B0604020202020204" pitchFamily="34" charset="0"/>
              <a:buChar char="•"/>
            </a:pPr>
            <a:r>
              <a:rPr lang="en-IN" sz="2000" b="1" dirty="0">
                <a:latin typeface="Proxima Nova" panose="020B0604020202020204"/>
                <a:ea typeface="Times New Roman" panose="02020603050405020304" pitchFamily="18" charset="0"/>
              </a:rPr>
              <a:t>Frontend</a:t>
            </a:r>
            <a:r>
              <a:rPr lang="en-IN" sz="2000" dirty="0">
                <a:latin typeface="Proxima Nova" panose="020B0604020202020204"/>
                <a:ea typeface="Times New Roman" panose="02020603050405020304" pitchFamily="18" charset="0"/>
              </a:rPr>
              <a:t> : React.js</a:t>
            </a:r>
            <a:endParaRPr lang="en-US" sz="2000" dirty="0">
              <a:solidFill>
                <a:srgbClr val="000000"/>
              </a:solidFill>
              <a:effectLst/>
              <a:latin typeface="Proxima Nova" panose="020B0604020202020204"/>
              <a:ea typeface="Times New Roman" panose="02020603050405020304" pitchFamily="18" charset="0"/>
            </a:endParaRPr>
          </a:p>
          <a:p>
            <a:pPr marL="342900" marR="0" lvl="0" indent="-342900" algn="just">
              <a:lnSpc>
                <a:spcPct val="103000"/>
              </a:lnSpc>
              <a:buFont typeface="Arial" panose="020B0604020202020204" pitchFamily="34" charset="0"/>
              <a:buChar char="•"/>
            </a:pPr>
            <a:r>
              <a:rPr lang="en-IN" sz="2000" b="1" dirty="0">
                <a:latin typeface="Proxima Nova" panose="020B0604020202020204"/>
                <a:ea typeface="Times New Roman" panose="02020603050405020304" pitchFamily="18" charset="0"/>
              </a:rPr>
              <a:t>Backend</a:t>
            </a:r>
            <a:r>
              <a:rPr lang="en-IN" sz="2000" dirty="0">
                <a:latin typeface="Proxima Nova" panose="020B0604020202020204"/>
                <a:ea typeface="Times New Roman" panose="02020603050405020304" pitchFamily="18" charset="0"/>
              </a:rPr>
              <a:t> : Node.js + Express</a:t>
            </a:r>
            <a:endParaRPr lang="en-US" sz="2000" dirty="0">
              <a:solidFill>
                <a:srgbClr val="000000"/>
              </a:solidFill>
              <a:effectLst/>
              <a:latin typeface="Proxima Nova" panose="020B0604020202020204"/>
              <a:ea typeface="Times New Roman" panose="02020603050405020304" pitchFamily="18" charset="0"/>
            </a:endParaRPr>
          </a:p>
          <a:p>
            <a:pPr marL="342900" marR="0" lvl="0" indent="-342900" algn="just">
              <a:lnSpc>
                <a:spcPct val="103000"/>
              </a:lnSpc>
              <a:buFont typeface="Arial" panose="020B0604020202020204" pitchFamily="34" charset="0"/>
              <a:buChar char="•"/>
            </a:pPr>
            <a:r>
              <a:rPr lang="en-IN" sz="2000" b="1" dirty="0">
                <a:latin typeface="Proxima Nova" panose="020B0604020202020204"/>
                <a:ea typeface="Times New Roman" panose="02020603050405020304" pitchFamily="18" charset="0"/>
              </a:rPr>
              <a:t>Blockchain Platform</a:t>
            </a:r>
            <a:r>
              <a:rPr lang="en-IN" sz="2000" dirty="0">
                <a:latin typeface="Proxima Nova" panose="020B0604020202020204"/>
                <a:ea typeface="Times New Roman" panose="02020603050405020304" pitchFamily="18" charset="0"/>
              </a:rPr>
              <a:t> : Ethereum</a:t>
            </a:r>
            <a:endParaRPr lang="en-IN" sz="2000" dirty="0">
              <a:solidFill>
                <a:srgbClr val="000000"/>
              </a:solidFill>
              <a:effectLst/>
              <a:latin typeface="Proxima Nova" panose="020B0604020202020204"/>
              <a:ea typeface="Times New Roman" panose="02020603050405020304" pitchFamily="18" charset="0"/>
            </a:endParaRPr>
          </a:p>
          <a:p>
            <a:pPr marL="342900" marR="0" lvl="0" indent="-342900" algn="just">
              <a:lnSpc>
                <a:spcPct val="103000"/>
              </a:lnSpc>
              <a:buFont typeface="Arial" panose="020B0604020202020204" pitchFamily="34" charset="0"/>
              <a:buChar char="•"/>
            </a:pPr>
            <a:r>
              <a:rPr lang="en-IN" sz="2000" b="1" dirty="0">
                <a:latin typeface="Proxima Nova" panose="020B0604020202020204"/>
                <a:ea typeface="Times New Roman" panose="02020603050405020304" pitchFamily="18" charset="0"/>
              </a:rPr>
              <a:t>Smart Contracts </a:t>
            </a:r>
            <a:r>
              <a:rPr lang="en-IN" sz="2000" dirty="0">
                <a:latin typeface="Proxima Nova" panose="020B0604020202020204"/>
                <a:ea typeface="Times New Roman" panose="02020603050405020304" pitchFamily="18" charset="0"/>
              </a:rPr>
              <a:t>: Solidity</a:t>
            </a:r>
            <a:endParaRPr lang="en-US" sz="2000" dirty="0">
              <a:solidFill>
                <a:srgbClr val="000000"/>
              </a:solidFill>
              <a:effectLst/>
              <a:latin typeface="Proxima Nova" panose="020B0604020202020204"/>
              <a:ea typeface="Times New Roman" panose="02020603050405020304" pitchFamily="18" charset="0"/>
            </a:endParaRPr>
          </a:p>
          <a:p>
            <a:pPr marL="342900" marR="0" lvl="0" indent="-342900" algn="just">
              <a:lnSpc>
                <a:spcPct val="103000"/>
              </a:lnSpc>
              <a:buFont typeface="Arial" panose="020B0604020202020204" pitchFamily="34" charset="0"/>
              <a:buChar char="•"/>
            </a:pPr>
            <a:r>
              <a:rPr lang="en-IN" sz="2000" b="1" dirty="0">
                <a:latin typeface="Proxima Nova" panose="020B0604020202020204"/>
                <a:ea typeface="Times New Roman" panose="02020603050405020304" pitchFamily="18" charset="0"/>
              </a:rPr>
              <a:t>Web3 </a:t>
            </a:r>
            <a:r>
              <a:rPr lang="en-US" sz="2000" b="1" dirty="0">
                <a:latin typeface="Proxima Nova" panose="020B0604020202020204"/>
                <a:ea typeface="Times New Roman" panose="02020603050405020304" pitchFamily="18" charset="0"/>
              </a:rPr>
              <a:t>Integration </a:t>
            </a:r>
            <a:r>
              <a:rPr lang="en-US" sz="2000" dirty="0">
                <a:latin typeface="Proxima Nova" panose="020B0604020202020204"/>
                <a:ea typeface="Times New Roman" panose="02020603050405020304" pitchFamily="18" charset="0"/>
              </a:rPr>
              <a:t>: Web3.js/Ether.js</a:t>
            </a:r>
            <a:endParaRPr lang="en-US" sz="2000" dirty="0">
              <a:solidFill>
                <a:srgbClr val="000000"/>
              </a:solidFill>
              <a:effectLst/>
              <a:latin typeface="Proxima Nova" panose="020B0604020202020204"/>
              <a:ea typeface="Times New Roman" panose="02020603050405020304" pitchFamily="18" charset="0"/>
            </a:endParaRPr>
          </a:p>
          <a:p>
            <a:pPr marL="342900" marR="0" lvl="0" indent="-342900" algn="just">
              <a:lnSpc>
                <a:spcPct val="103000"/>
              </a:lnSpc>
              <a:buFont typeface="Arial" panose="020B0604020202020204" pitchFamily="34" charset="0"/>
              <a:buChar char="•"/>
            </a:pPr>
            <a:r>
              <a:rPr lang="en-IN" sz="2000" b="1" dirty="0">
                <a:latin typeface="Proxima Nova" panose="020B0604020202020204"/>
                <a:ea typeface="Times New Roman" panose="02020603050405020304" pitchFamily="18" charset="0"/>
              </a:rPr>
              <a:t>Database</a:t>
            </a:r>
            <a:r>
              <a:rPr lang="en-IN" sz="2000" dirty="0">
                <a:latin typeface="Proxima Nova" panose="020B0604020202020204"/>
                <a:ea typeface="Times New Roman" panose="02020603050405020304" pitchFamily="18" charset="0"/>
              </a:rPr>
              <a:t> : MongoDB (for Off-chain metadata)</a:t>
            </a:r>
            <a:endParaRPr lang="en-US" sz="2000" dirty="0">
              <a:solidFill>
                <a:srgbClr val="000000"/>
              </a:solidFill>
              <a:effectLst/>
              <a:latin typeface="Proxima Nova" panose="020B0604020202020204"/>
              <a:ea typeface="Times New Roman" panose="02020603050405020304" pitchFamily="18" charset="0"/>
            </a:endParaRPr>
          </a:p>
          <a:p>
            <a:pPr marL="342900" marR="0" lvl="0" indent="-342900" algn="just">
              <a:lnSpc>
                <a:spcPct val="103000"/>
              </a:lnSpc>
              <a:buFont typeface="Arial" panose="020B0604020202020204" pitchFamily="34" charset="0"/>
              <a:buChar char="•"/>
            </a:pPr>
            <a:r>
              <a:rPr lang="en-IN" sz="2000" b="1" dirty="0">
                <a:latin typeface="Proxima Nova" panose="020B0604020202020204"/>
                <a:ea typeface="Times New Roman" panose="02020603050405020304" pitchFamily="18" charset="0"/>
              </a:rPr>
              <a:t>AI/ML Models </a:t>
            </a:r>
            <a:r>
              <a:rPr lang="en-IN" sz="2000" dirty="0">
                <a:latin typeface="Proxima Nova" panose="020B0604020202020204"/>
                <a:ea typeface="Times New Roman" panose="02020603050405020304" pitchFamily="18" charset="0"/>
              </a:rPr>
              <a:t>: Python for Fraud Detection</a:t>
            </a:r>
            <a:endParaRPr lang="en-US" sz="2000" dirty="0">
              <a:solidFill>
                <a:srgbClr val="000000"/>
              </a:solidFill>
              <a:effectLst/>
              <a:latin typeface="Proxima Nova" panose="020B0604020202020204"/>
              <a:ea typeface="Times New Roman" panose="02020603050405020304" pitchFamily="18" charset="0"/>
            </a:endParaRPr>
          </a:p>
          <a:p>
            <a:pPr marL="342900" marR="0" lvl="0" indent="-342900" algn="just">
              <a:lnSpc>
                <a:spcPct val="103000"/>
              </a:lnSpc>
              <a:buFont typeface="Arial" panose="020B0604020202020204" pitchFamily="34" charset="0"/>
              <a:buChar char="•"/>
            </a:pPr>
            <a:r>
              <a:rPr lang="en-US" sz="2000" b="1" dirty="0">
                <a:solidFill>
                  <a:srgbClr val="000000"/>
                </a:solidFill>
                <a:effectLst/>
                <a:latin typeface="Proxima Nova" panose="020B0604020202020204"/>
                <a:ea typeface="Times New Roman" panose="02020603050405020304" pitchFamily="18" charset="0"/>
              </a:rPr>
              <a:t>Biometric Authentication</a:t>
            </a:r>
            <a:r>
              <a:rPr lang="en-US" sz="2000" dirty="0">
                <a:solidFill>
                  <a:srgbClr val="000000"/>
                </a:solidFill>
                <a:effectLst/>
                <a:latin typeface="Proxima Nova" panose="020B0604020202020204"/>
                <a:ea typeface="Times New Roman" panose="02020603050405020304" pitchFamily="18" charset="0"/>
              </a:rPr>
              <a:t> : Fingerprint/</a:t>
            </a:r>
            <a:r>
              <a:rPr lang="en-US" sz="2000" dirty="0" err="1">
                <a:solidFill>
                  <a:srgbClr val="000000"/>
                </a:solidFill>
                <a:effectLst/>
                <a:latin typeface="Proxima Nova" panose="020B0604020202020204"/>
                <a:ea typeface="Times New Roman" panose="02020603050405020304" pitchFamily="18" charset="0"/>
              </a:rPr>
              <a:t>FaceID</a:t>
            </a:r>
            <a:r>
              <a:rPr lang="en-US" sz="2000" dirty="0">
                <a:solidFill>
                  <a:srgbClr val="000000"/>
                </a:solidFill>
                <a:effectLst/>
                <a:latin typeface="Proxima Nova" panose="020B0604020202020204"/>
                <a:ea typeface="Times New Roman" panose="02020603050405020304" pitchFamily="18" charset="0"/>
              </a:rPr>
              <a:t> Integration via Web APIs</a:t>
            </a:r>
          </a:p>
        </p:txBody>
      </p:sp>
    </p:spTree>
    <p:extLst>
      <p:ext uri="{BB962C8B-B14F-4D97-AF65-F5344CB8AC3E}">
        <p14:creationId xmlns:p14="http://schemas.microsoft.com/office/powerpoint/2010/main" val="3387258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D462F9B2-D05E-ACC6-9632-2BE07BA077E5}"/>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457B9D0B-ED75-AF8E-67FC-20EE3BF1F6EF}"/>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Challenges</a:t>
            </a:r>
            <a:endParaRPr sz="2400" b="1" dirty="0">
              <a:latin typeface="Proxima Nova" panose="020B0604020202020204"/>
              <a:ea typeface="Proxima Nova" panose="020B0604020202020204"/>
              <a:cs typeface="Proxima Nova" panose="020B0604020202020204"/>
              <a:sym typeface="Proxima Nova"/>
            </a:endParaRPr>
          </a:p>
        </p:txBody>
      </p:sp>
      <p:sp>
        <p:nvSpPr>
          <p:cNvPr id="2" name="Rectangle 1">
            <a:extLst>
              <a:ext uri="{FF2B5EF4-FFF2-40B4-BE49-F238E27FC236}">
                <a16:creationId xmlns:a16="http://schemas.microsoft.com/office/drawing/2014/main" id="{E7F6D5EB-0E80-4C7B-BB96-F244BC93516C}"/>
              </a:ext>
            </a:extLst>
          </p:cNvPr>
          <p:cNvSpPr>
            <a:spLocks noChangeArrowheads="1"/>
          </p:cNvSpPr>
          <p:nvPr/>
        </p:nvSpPr>
        <p:spPr bwMode="auto">
          <a:xfrm>
            <a:off x="424206" y="1108271"/>
            <a:ext cx="94243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Ensuring </a:t>
            </a:r>
            <a:r>
              <a:rPr kumimoji="0" lang="en-US" altLang="en-US" sz="1800" b="1" i="0" u="none" strike="noStrike" cap="none" normalizeH="0" baseline="0" dirty="0">
                <a:ln>
                  <a:noFill/>
                </a:ln>
                <a:solidFill>
                  <a:schemeClr val="tx1"/>
                </a:solidFill>
                <a:effectLst/>
                <a:latin typeface="Arial" panose="020B0604020202020204" pitchFamily="34" charset="0"/>
              </a:rPr>
              <a:t>high security</a:t>
            </a:r>
            <a:r>
              <a:rPr kumimoji="0" lang="en-US" altLang="en-US" sz="1800" b="0" i="0" u="none" strike="noStrike" cap="none" normalizeH="0" baseline="0" dirty="0">
                <a:ln>
                  <a:noFill/>
                </a:ln>
                <a:solidFill>
                  <a:schemeClr val="tx1"/>
                </a:solidFill>
                <a:effectLst/>
                <a:latin typeface="Arial" panose="020B0604020202020204" pitchFamily="34" charset="0"/>
              </a:rPr>
              <a:t> while keeping the system user-friendly.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Integrating blockchain, biometrics, and AI</a:t>
            </a:r>
            <a:r>
              <a:rPr kumimoji="0" lang="en-US" altLang="en-US" sz="1800" b="0" i="0" u="none" strike="noStrike" cap="none" normalizeH="0" baseline="0" dirty="0">
                <a:ln>
                  <a:noFill/>
                </a:ln>
                <a:solidFill>
                  <a:schemeClr val="tx1"/>
                </a:solidFill>
                <a:effectLst/>
                <a:latin typeface="Arial" panose="020B0604020202020204" pitchFamily="34" charset="0"/>
              </a:rPr>
              <a:t> seamlessly into one platform.</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Managing </a:t>
            </a:r>
            <a:r>
              <a:rPr kumimoji="0" lang="en-US" altLang="en-US" sz="1800" b="1" i="0" u="none" strike="noStrike" cap="none" normalizeH="0" baseline="0" dirty="0">
                <a:ln>
                  <a:noFill/>
                </a:ln>
                <a:solidFill>
                  <a:schemeClr val="tx1"/>
                </a:solidFill>
                <a:effectLst/>
                <a:latin typeface="Arial" panose="020B0604020202020204" pitchFamily="34" charset="0"/>
              </a:rPr>
              <a:t>scalability and transaction speed</a:t>
            </a:r>
            <a:r>
              <a:rPr kumimoji="0" lang="en-US" altLang="en-US" sz="1800" b="0" i="0" u="none" strike="noStrike" cap="none" normalizeH="0" baseline="0" dirty="0">
                <a:ln>
                  <a:noFill/>
                </a:ln>
                <a:solidFill>
                  <a:schemeClr val="tx1"/>
                </a:solidFill>
                <a:effectLst/>
                <a:latin typeface="Arial" panose="020B0604020202020204" pitchFamily="34" charset="0"/>
              </a:rPr>
              <a:t> on the blockchain network.</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Handling </a:t>
            </a:r>
            <a:r>
              <a:rPr kumimoji="0" lang="en-US" altLang="en-US" sz="1800" b="1" i="0" u="none" strike="noStrike" cap="none" normalizeH="0" baseline="0" dirty="0">
                <a:ln>
                  <a:noFill/>
                </a:ln>
                <a:solidFill>
                  <a:schemeClr val="tx1"/>
                </a:solidFill>
                <a:effectLst/>
                <a:latin typeface="Arial" panose="020B0604020202020204" pitchFamily="34" charset="0"/>
              </a:rPr>
              <a:t>data privacy</a:t>
            </a:r>
            <a:r>
              <a:rPr kumimoji="0" lang="en-US" altLang="en-US" sz="1800" b="0" i="0" u="none" strike="noStrike" cap="none" normalizeH="0" baseline="0" dirty="0">
                <a:ln>
                  <a:noFill/>
                </a:ln>
                <a:solidFill>
                  <a:schemeClr val="tx1"/>
                </a:solidFill>
                <a:effectLst/>
                <a:latin typeface="Arial" panose="020B0604020202020204" pitchFamily="34" charset="0"/>
              </a:rPr>
              <a:t> while using decentralized storage.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Ensuring </a:t>
            </a:r>
            <a:r>
              <a:rPr kumimoji="0" lang="en-US" altLang="en-US" sz="1800" b="1" i="0" u="none" strike="noStrike" cap="none" normalizeH="0" baseline="0" dirty="0">
                <a:ln>
                  <a:noFill/>
                </a:ln>
                <a:solidFill>
                  <a:schemeClr val="tx1"/>
                </a:solidFill>
                <a:effectLst/>
                <a:latin typeface="Arial" panose="020B0604020202020204" pitchFamily="34" charset="0"/>
              </a:rPr>
              <a:t>compatibility</a:t>
            </a:r>
            <a:r>
              <a:rPr kumimoji="0" lang="en-US" altLang="en-US" sz="1800" b="0" i="0" u="none" strike="noStrike" cap="none" normalizeH="0" baseline="0" dirty="0">
                <a:ln>
                  <a:noFill/>
                </a:ln>
                <a:solidFill>
                  <a:schemeClr val="tx1"/>
                </a:solidFill>
                <a:effectLst/>
                <a:latin typeface="Arial" panose="020B0604020202020204" pitchFamily="34" charset="0"/>
              </a:rPr>
              <a:t> with existing banking infrastructure.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Maintaining </a:t>
            </a:r>
            <a:r>
              <a:rPr kumimoji="0" lang="en-US" altLang="en-US" sz="1800" b="1" i="0" u="none" strike="noStrike" cap="none" normalizeH="0" baseline="0" dirty="0">
                <a:ln>
                  <a:noFill/>
                </a:ln>
                <a:solidFill>
                  <a:schemeClr val="tx1"/>
                </a:solidFill>
                <a:effectLst/>
                <a:latin typeface="Arial" panose="020B0604020202020204" pitchFamily="34" charset="0"/>
              </a:rPr>
              <a:t>low operational costs</a:t>
            </a:r>
            <a:r>
              <a:rPr kumimoji="0" lang="en-US" altLang="en-US" sz="1800" b="0" i="0" u="none" strike="noStrike" cap="none" normalizeH="0" baseline="0" dirty="0">
                <a:ln>
                  <a:noFill/>
                </a:ln>
                <a:solidFill>
                  <a:schemeClr val="tx1"/>
                </a:solidFill>
                <a:effectLst/>
                <a:latin typeface="Arial" panose="020B0604020202020204" pitchFamily="34" charset="0"/>
              </a:rPr>
              <a:t> despite advanced technologies.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Building </a:t>
            </a:r>
            <a:r>
              <a:rPr kumimoji="0" lang="en-US" altLang="en-US" sz="1800" b="1" i="0" u="none" strike="noStrike" cap="none" normalizeH="0" baseline="0" dirty="0">
                <a:ln>
                  <a:noFill/>
                </a:ln>
                <a:solidFill>
                  <a:schemeClr val="tx1"/>
                </a:solidFill>
                <a:effectLst/>
                <a:latin typeface="Arial" panose="020B0604020202020204" pitchFamily="34" charset="0"/>
              </a:rPr>
              <a:t>trust and awareness</a:t>
            </a:r>
            <a:r>
              <a:rPr kumimoji="0" lang="en-US" altLang="en-US" sz="1800" b="0" i="0" u="none" strike="noStrike" cap="none" normalizeH="0" baseline="0" dirty="0">
                <a:ln>
                  <a:noFill/>
                </a:ln>
                <a:solidFill>
                  <a:schemeClr val="tx1"/>
                </a:solidFill>
                <a:effectLst/>
                <a:latin typeface="Arial" panose="020B0604020202020204" pitchFamily="34" charset="0"/>
              </a:rPr>
              <a:t> among users and financial institutions.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Keeping up with </a:t>
            </a:r>
            <a:r>
              <a:rPr kumimoji="0" lang="en-US" altLang="en-US" sz="1800" b="1" i="0" u="none" strike="noStrike" cap="none" normalizeH="0" baseline="0" dirty="0">
                <a:ln>
                  <a:noFill/>
                </a:ln>
                <a:solidFill>
                  <a:schemeClr val="tx1"/>
                </a:solidFill>
                <a:effectLst/>
                <a:latin typeface="Arial" panose="020B0604020202020204" pitchFamily="34" charset="0"/>
              </a:rPr>
              <a:t>regulatory and compliance requirements</a:t>
            </a:r>
            <a:r>
              <a:rPr kumimoji="0" lang="en-US" altLang="en-US" sz="1800" b="0" i="0" u="none" strike="noStrike" cap="none" normalizeH="0" baseline="0" dirty="0">
                <a:ln>
                  <a:noFill/>
                </a:ln>
                <a:solidFill>
                  <a:schemeClr val="tx1"/>
                </a:solidFill>
                <a:effectLst/>
                <a:latin typeface="Arial" panose="020B0604020202020204" pitchFamily="34" charset="0"/>
              </a:rPr>
              <a:t> in banking and blockchain.</a:t>
            </a:r>
          </a:p>
        </p:txBody>
      </p:sp>
    </p:spTree>
    <p:extLst>
      <p:ext uri="{BB962C8B-B14F-4D97-AF65-F5344CB8AC3E}">
        <p14:creationId xmlns:p14="http://schemas.microsoft.com/office/powerpoint/2010/main" val="4113348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D462F9B2-D05E-ACC6-9632-2BE07BA077E5}"/>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457B9D0B-ED75-AF8E-67FC-20EE3BF1F6EF}"/>
              </a:ext>
            </a:extLst>
          </p:cNvPr>
          <p:cNvSpPr txBox="1">
            <a:spLocks noGrp="1"/>
          </p:cNvSpPr>
          <p:nvPr>
            <p:ph type="title"/>
          </p:nvPr>
        </p:nvSpPr>
        <p:spPr>
          <a:xfrm>
            <a:off x="424205" y="419617"/>
            <a:ext cx="5269585"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err="1">
                <a:solidFill>
                  <a:srgbClr val="04A2B9"/>
                </a:solidFill>
                <a:latin typeface="Proxima Nova" panose="020B0604020202020204"/>
                <a:ea typeface="Proxima Nova" panose="020B0604020202020204"/>
                <a:cs typeface="Proxima Nova" panose="020B0604020202020204"/>
                <a:sym typeface="Proxima Nova"/>
              </a:rPr>
              <a:t>Methodogy</a:t>
            </a:r>
            <a:r>
              <a:rPr lang="en-US" sz="2400" b="1" dirty="0">
                <a:solidFill>
                  <a:srgbClr val="04A2B9"/>
                </a:solidFill>
                <a:latin typeface="Proxima Nova" panose="020B0604020202020204"/>
                <a:ea typeface="Proxima Nova" panose="020B0604020202020204"/>
                <a:cs typeface="Proxima Nova" panose="020B0604020202020204"/>
                <a:sym typeface="Proxima Nova"/>
              </a:rPr>
              <a:t> / Algorithm Description</a:t>
            </a:r>
            <a:endParaRPr sz="2400" b="1" dirty="0">
              <a:latin typeface="Proxima Nova" panose="020B0604020202020204"/>
              <a:ea typeface="Proxima Nova" panose="020B0604020202020204"/>
              <a:cs typeface="Proxima Nova" panose="020B0604020202020204"/>
              <a:sym typeface="Proxima Nova"/>
            </a:endParaRPr>
          </a:p>
        </p:txBody>
      </p:sp>
      <p:sp>
        <p:nvSpPr>
          <p:cNvPr id="2" name="Rectangle 1">
            <a:extLst>
              <a:ext uri="{FF2B5EF4-FFF2-40B4-BE49-F238E27FC236}">
                <a16:creationId xmlns:a16="http://schemas.microsoft.com/office/drawing/2014/main" id="{E7F6D5EB-0E80-4C7B-BB96-F244BC93516C}"/>
              </a:ext>
            </a:extLst>
          </p:cNvPr>
          <p:cNvSpPr>
            <a:spLocks noChangeArrowheads="1"/>
          </p:cNvSpPr>
          <p:nvPr/>
        </p:nvSpPr>
        <p:spPr bwMode="auto">
          <a:xfrm>
            <a:off x="424205" y="2077764"/>
            <a:ext cx="54958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 name="Rectangle 2">
            <a:extLst>
              <a:ext uri="{FF2B5EF4-FFF2-40B4-BE49-F238E27FC236}">
                <a16:creationId xmlns:a16="http://schemas.microsoft.com/office/drawing/2014/main" id="{8D49609A-BC2F-458D-B823-51CB042C5D1C}"/>
              </a:ext>
            </a:extLst>
          </p:cNvPr>
          <p:cNvSpPr/>
          <p:nvPr/>
        </p:nvSpPr>
        <p:spPr>
          <a:xfrm>
            <a:off x="424205" y="1339100"/>
            <a:ext cx="9860438" cy="1477328"/>
          </a:xfrm>
          <a:prstGeom prst="rect">
            <a:avLst/>
          </a:prstGeom>
        </p:spPr>
        <p:txBody>
          <a:bodyPr wrap="square">
            <a:spAutoFit/>
          </a:bodyPr>
          <a:lstStyle/>
          <a:p>
            <a:r>
              <a:rPr lang="en-US" sz="1800" dirty="0"/>
              <a:t>The proposed </a:t>
            </a:r>
            <a:r>
              <a:rPr lang="en-US" sz="1800" b="1" dirty="0" err="1"/>
              <a:t>BankSEC</a:t>
            </a:r>
            <a:r>
              <a:rPr lang="en-US" sz="1800" b="1" dirty="0"/>
              <a:t> system</a:t>
            </a:r>
            <a:r>
              <a:rPr lang="en-US" sz="1800" dirty="0"/>
              <a:t> follows a hybrid methodology that integrates </a:t>
            </a:r>
            <a:r>
              <a:rPr lang="en-US" sz="1800" b="1" dirty="0"/>
              <a:t>Blockchain technology, Artificial Intelligence, and centralized databases</a:t>
            </a:r>
            <a:r>
              <a:rPr lang="en-US" sz="1800" dirty="0"/>
              <a:t> to ensure secure, transparent, and intelligent smart banking operations. The system workflow is divided into multiple sequential phases to guarantee data integrity, fraud prevention, and efficient transaction processing.</a:t>
            </a:r>
          </a:p>
        </p:txBody>
      </p:sp>
      <p:sp>
        <p:nvSpPr>
          <p:cNvPr id="4" name="Rectangle 3">
            <a:extLst>
              <a:ext uri="{FF2B5EF4-FFF2-40B4-BE49-F238E27FC236}">
                <a16:creationId xmlns:a16="http://schemas.microsoft.com/office/drawing/2014/main" id="{B47C301E-7FD7-4A92-86B4-12096A468AC8}"/>
              </a:ext>
            </a:extLst>
          </p:cNvPr>
          <p:cNvSpPr/>
          <p:nvPr/>
        </p:nvSpPr>
        <p:spPr>
          <a:xfrm>
            <a:off x="424205" y="2872963"/>
            <a:ext cx="8562479" cy="2585323"/>
          </a:xfrm>
          <a:prstGeom prst="rect">
            <a:avLst/>
          </a:prstGeom>
        </p:spPr>
        <p:txBody>
          <a:bodyPr wrap="square">
            <a:spAutoFit/>
          </a:bodyPr>
          <a:lstStyle/>
          <a:p>
            <a:r>
              <a:rPr lang="en-US" sz="1800" b="1" dirty="0"/>
              <a:t>Step 1:</a:t>
            </a:r>
            <a:r>
              <a:rPr lang="en-US" sz="1800" dirty="0"/>
              <a:t> User login and authentication</a:t>
            </a:r>
            <a:br>
              <a:rPr lang="en-US" sz="1800" dirty="0"/>
            </a:br>
            <a:r>
              <a:rPr lang="en-US" sz="1800" b="1" dirty="0"/>
              <a:t>Step 2:</a:t>
            </a:r>
            <a:r>
              <a:rPr lang="en-US" sz="1800" dirty="0"/>
              <a:t> Generate transaction request</a:t>
            </a:r>
            <a:br>
              <a:rPr lang="en-US" sz="1800" dirty="0"/>
            </a:br>
            <a:r>
              <a:rPr lang="en-US" sz="1800" b="1" dirty="0"/>
              <a:t>Step 3:</a:t>
            </a:r>
            <a:r>
              <a:rPr lang="en-US" sz="1800" dirty="0"/>
              <a:t> Verify user credentials and digital signature</a:t>
            </a:r>
            <a:br>
              <a:rPr lang="en-US" sz="1800" dirty="0"/>
            </a:br>
            <a:r>
              <a:rPr lang="en-US" sz="1800" b="1" dirty="0"/>
              <a:t>Step 4:</a:t>
            </a:r>
            <a:r>
              <a:rPr lang="en-US" sz="1800" dirty="0"/>
              <a:t> Analyze transaction using AI fraud detection model</a:t>
            </a:r>
            <a:br>
              <a:rPr lang="en-US" sz="1800" dirty="0"/>
            </a:br>
            <a:r>
              <a:rPr lang="en-US" sz="1800" b="1" dirty="0"/>
              <a:t>Step 5:</a:t>
            </a:r>
            <a:r>
              <a:rPr lang="en-US" sz="1800" dirty="0"/>
              <a:t> Validate transaction via smart contract</a:t>
            </a:r>
            <a:br>
              <a:rPr lang="en-US" sz="1800" dirty="0"/>
            </a:br>
            <a:r>
              <a:rPr lang="en-US" sz="1800" b="1" dirty="0"/>
              <a:t>Step 6:</a:t>
            </a:r>
            <a:r>
              <a:rPr lang="en-US" sz="1800" dirty="0"/>
              <a:t> Create and broadcast block</a:t>
            </a:r>
            <a:br>
              <a:rPr lang="en-US" sz="1800" dirty="0"/>
            </a:br>
            <a:r>
              <a:rPr lang="en-US" sz="1800" b="1" dirty="0"/>
              <a:t>Step 7:</a:t>
            </a:r>
            <a:r>
              <a:rPr lang="en-US" sz="1800" dirty="0"/>
              <a:t> Achieve consensus among nodes</a:t>
            </a:r>
            <a:br>
              <a:rPr lang="en-US" sz="1800" dirty="0"/>
            </a:br>
            <a:r>
              <a:rPr lang="en-US" sz="1800" b="1" dirty="0"/>
              <a:t>Step 8:</a:t>
            </a:r>
            <a:r>
              <a:rPr lang="en-US" sz="1800" dirty="0"/>
              <a:t> Store transaction hash on blockchain</a:t>
            </a:r>
            <a:br>
              <a:rPr lang="en-US" sz="1800" dirty="0"/>
            </a:br>
            <a:r>
              <a:rPr lang="en-US" sz="1800" b="1" dirty="0"/>
              <a:t>Step 9:</a:t>
            </a:r>
            <a:r>
              <a:rPr lang="en-US" sz="1800" dirty="0"/>
              <a:t> Update database and notify user</a:t>
            </a:r>
          </a:p>
        </p:txBody>
      </p:sp>
    </p:spTree>
    <p:extLst>
      <p:ext uri="{BB962C8B-B14F-4D97-AF65-F5344CB8AC3E}">
        <p14:creationId xmlns:p14="http://schemas.microsoft.com/office/powerpoint/2010/main" val="948994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1FAAEB4D-D5A7-0A6F-CED9-7291DBDF4C7E}"/>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3171DED0-FD43-1018-5BEA-60744054EBCF}"/>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IN" sz="2400" b="1" dirty="0">
                <a:latin typeface="Proxima Nova" panose="020B0604020202020204"/>
                <a:ea typeface="Proxima Nova" panose="020B0604020202020204"/>
                <a:cs typeface="Proxima Nova" panose="020B0604020202020204"/>
                <a:sym typeface="Proxima Nova"/>
              </a:rPr>
              <a:t>Result Section</a:t>
            </a:r>
            <a:endParaRPr sz="2400" b="1" dirty="0">
              <a:latin typeface="Proxima Nova" panose="020B0604020202020204"/>
              <a:ea typeface="Proxima Nova" panose="020B0604020202020204"/>
              <a:cs typeface="Proxima Nova" panose="020B0604020202020204"/>
              <a:sym typeface="Proxima Nova"/>
            </a:endParaRPr>
          </a:p>
        </p:txBody>
      </p:sp>
      <p:pic>
        <p:nvPicPr>
          <p:cNvPr id="3" name="Picture 2">
            <a:extLst>
              <a:ext uri="{FF2B5EF4-FFF2-40B4-BE49-F238E27FC236}">
                <a16:creationId xmlns:a16="http://schemas.microsoft.com/office/drawing/2014/main" id="{A98B61C7-C651-113D-A51D-0D351BF1A55D}"/>
              </a:ext>
            </a:extLst>
          </p:cNvPr>
          <p:cNvPicPr>
            <a:picLocks noChangeAspect="1"/>
          </p:cNvPicPr>
          <p:nvPr/>
        </p:nvPicPr>
        <p:blipFill>
          <a:blip r:embed="rId4"/>
          <a:stretch>
            <a:fillRect/>
          </a:stretch>
        </p:blipFill>
        <p:spPr>
          <a:xfrm>
            <a:off x="414779" y="3748648"/>
            <a:ext cx="3665162" cy="2873682"/>
          </a:xfrm>
          <a:prstGeom prst="rect">
            <a:avLst/>
          </a:prstGeom>
        </p:spPr>
      </p:pic>
      <p:pic>
        <p:nvPicPr>
          <p:cNvPr id="4" name="Picture 3">
            <a:extLst>
              <a:ext uri="{FF2B5EF4-FFF2-40B4-BE49-F238E27FC236}">
                <a16:creationId xmlns:a16="http://schemas.microsoft.com/office/drawing/2014/main" id="{4DB848E2-960D-E723-7619-2FF26EB9270F}"/>
              </a:ext>
            </a:extLst>
          </p:cNvPr>
          <p:cNvPicPr>
            <a:picLocks noChangeAspect="1"/>
          </p:cNvPicPr>
          <p:nvPr/>
        </p:nvPicPr>
        <p:blipFill>
          <a:blip r:embed="rId5"/>
          <a:stretch>
            <a:fillRect/>
          </a:stretch>
        </p:blipFill>
        <p:spPr>
          <a:xfrm>
            <a:off x="4500318" y="3712238"/>
            <a:ext cx="3665162" cy="2946502"/>
          </a:xfrm>
          <a:prstGeom prst="rect">
            <a:avLst/>
          </a:prstGeom>
        </p:spPr>
      </p:pic>
      <p:pic>
        <p:nvPicPr>
          <p:cNvPr id="5" name="Picture 4">
            <a:extLst>
              <a:ext uri="{FF2B5EF4-FFF2-40B4-BE49-F238E27FC236}">
                <a16:creationId xmlns:a16="http://schemas.microsoft.com/office/drawing/2014/main" id="{2F009E34-25C7-2C8D-AEA3-3913849BFED5}"/>
              </a:ext>
            </a:extLst>
          </p:cNvPr>
          <p:cNvPicPr>
            <a:picLocks noChangeAspect="1"/>
          </p:cNvPicPr>
          <p:nvPr/>
        </p:nvPicPr>
        <p:blipFill>
          <a:blip r:embed="rId6"/>
          <a:stretch>
            <a:fillRect/>
          </a:stretch>
        </p:blipFill>
        <p:spPr>
          <a:xfrm>
            <a:off x="622397" y="1139731"/>
            <a:ext cx="3665162" cy="2216211"/>
          </a:xfrm>
          <a:prstGeom prst="rect">
            <a:avLst/>
          </a:prstGeom>
        </p:spPr>
      </p:pic>
      <p:sp>
        <p:nvSpPr>
          <p:cNvPr id="6" name="AutoShape 2">
            <a:extLst>
              <a:ext uri="{FF2B5EF4-FFF2-40B4-BE49-F238E27FC236}">
                <a16:creationId xmlns:a16="http://schemas.microsoft.com/office/drawing/2014/main" id="{389657C3-FD04-0FC9-D4AC-D46476785F1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a:extLst>
              <a:ext uri="{FF2B5EF4-FFF2-40B4-BE49-F238E27FC236}">
                <a16:creationId xmlns:a16="http://schemas.microsoft.com/office/drawing/2014/main" id="{58E45AC1-CBF5-9D8F-E50C-DC1414271531}"/>
              </a:ext>
            </a:extLst>
          </p:cNvPr>
          <p:cNvPicPr>
            <a:picLocks noChangeAspect="1"/>
          </p:cNvPicPr>
          <p:nvPr/>
        </p:nvPicPr>
        <p:blipFill>
          <a:blip r:embed="rId7"/>
          <a:stretch>
            <a:fillRect/>
          </a:stretch>
        </p:blipFill>
        <p:spPr>
          <a:xfrm>
            <a:off x="4695444" y="1139731"/>
            <a:ext cx="3635155" cy="2441670"/>
          </a:xfrm>
          <a:prstGeom prst="rect">
            <a:avLst/>
          </a:prstGeom>
        </p:spPr>
      </p:pic>
      <p:pic>
        <p:nvPicPr>
          <p:cNvPr id="12" name="Picture 11">
            <a:extLst>
              <a:ext uri="{FF2B5EF4-FFF2-40B4-BE49-F238E27FC236}">
                <a16:creationId xmlns:a16="http://schemas.microsoft.com/office/drawing/2014/main" id="{372EB05B-9C5D-AA98-21BA-BD62D6D923E1}"/>
              </a:ext>
            </a:extLst>
          </p:cNvPr>
          <p:cNvPicPr>
            <a:picLocks noChangeAspect="1"/>
          </p:cNvPicPr>
          <p:nvPr/>
        </p:nvPicPr>
        <p:blipFill>
          <a:blip r:embed="rId8"/>
          <a:stretch>
            <a:fillRect/>
          </a:stretch>
        </p:blipFill>
        <p:spPr>
          <a:xfrm>
            <a:off x="8330599" y="1253397"/>
            <a:ext cx="3547896" cy="2328003"/>
          </a:xfrm>
          <a:prstGeom prst="rect">
            <a:avLst/>
          </a:prstGeom>
        </p:spPr>
      </p:pic>
      <p:pic>
        <p:nvPicPr>
          <p:cNvPr id="14" name="Picture 13">
            <a:extLst>
              <a:ext uri="{FF2B5EF4-FFF2-40B4-BE49-F238E27FC236}">
                <a16:creationId xmlns:a16="http://schemas.microsoft.com/office/drawing/2014/main" id="{6CAAD367-3446-DEF2-801B-44D27C8718B8}"/>
              </a:ext>
            </a:extLst>
          </p:cNvPr>
          <p:cNvPicPr>
            <a:picLocks noChangeAspect="1"/>
          </p:cNvPicPr>
          <p:nvPr/>
        </p:nvPicPr>
        <p:blipFill>
          <a:blip r:embed="rId9"/>
          <a:stretch>
            <a:fillRect/>
          </a:stretch>
        </p:blipFill>
        <p:spPr>
          <a:xfrm>
            <a:off x="8274910" y="3823993"/>
            <a:ext cx="3502311" cy="2798337"/>
          </a:xfrm>
          <a:prstGeom prst="rect">
            <a:avLst/>
          </a:prstGeom>
        </p:spPr>
      </p:pic>
    </p:spTree>
    <p:extLst>
      <p:ext uri="{BB962C8B-B14F-4D97-AF65-F5344CB8AC3E}">
        <p14:creationId xmlns:p14="http://schemas.microsoft.com/office/powerpoint/2010/main" val="1538142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59016E30-B127-29BE-F9CC-C214425DF9B6}"/>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A744C91C-5FA1-12B2-82BA-D83BBDAE0747}"/>
              </a:ext>
            </a:extLst>
          </p:cNvPr>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a:buNone/>
            </a:pPr>
            <a:r>
              <a:rPr lang="en-US" sz="2400" b="1" dirty="0">
                <a:solidFill>
                  <a:srgbClr val="04A2B9"/>
                </a:solidFill>
                <a:latin typeface="Proxima Nova" panose="020B0604020202020204"/>
                <a:ea typeface="Proxima Nova" panose="020B0604020202020204"/>
                <a:cs typeface="Proxima Nova" panose="020B0604020202020204"/>
                <a:sym typeface="Proxima Nova"/>
              </a:rPr>
              <a:t>Conclusion</a:t>
            </a:r>
            <a:endParaRPr sz="2400" b="1" dirty="0">
              <a:latin typeface="Proxima Nova" panose="020B0604020202020204"/>
              <a:ea typeface="Proxima Nova" panose="020B0604020202020204"/>
              <a:cs typeface="Proxima Nova" panose="020B0604020202020204"/>
              <a:sym typeface="Proxima Nova"/>
            </a:endParaRPr>
          </a:p>
        </p:txBody>
      </p:sp>
      <p:sp>
        <p:nvSpPr>
          <p:cNvPr id="2" name="Rectangle 1">
            <a:extLst>
              <a:ext uri="{FF2B5EF4-FFF2-40B4-BE49-F238E27FC236}">
                <a16:creationId xmlns:a16="http://schemas.microsoft.com/office/drawing/2014/main" id="{6599E35E-9D80-425B-BD72-1AE6F5E7A46E}"/>
              </a:ext>
            </a:extLst>
          </p:cNvPr>
          <p:cNvSpPr>
            <a:spLocks noChangeArrowheads="1"/>
          </p:cNvSpPr>
          <p:nvPr/>
        </p:nvSpPr>
        <p:spPr bwMode="auto">
          <a:xfrm>
            <a:off x="378693" y="1701168"/>
            <a:ext cx="1163010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introduces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and transparent banking 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blockchain, biometrics, and AI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Blockchain technology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data integrity and prevents tampering or fraud.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Biometric authentication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simple and reliable user access without passwords.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Decentralized Identity (DID)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gives users control over their verified digital identities.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contracts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 core banking functions for efficiency and trust.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system enhances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transparency, and user confidence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digital banking.</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represents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modern step toward a safer and more reliable financial ecosystem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82887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a:extLst>
            <a:ext uri="{FF2B5EF4-FFF2-40B4-BE49-F238E27FC236}">
              <a16:creationId xmlns:a16="http://schemas.microsoft.com/office/drawing/2014/main" id="{B87E62CF-E43C-B44F-13AC-B825496A2245}"/>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F3FD933-DAF3-0B1E-E084-5E4E9E9830AB}"/>
              </a:ext>
            </a:extLst>
          </p:cNvPr>
          <p:cNvSpPr txBox="1">
            <a:spLocks noGrp="1"/>
          </p:cNvSpPr>
          <p:nvPr>
            <p:ph type="title"/>
          </p:nvPr>
        </p:nvSpPr>
        <p:spPr>
          <a:xfrm>
            <a:off x="534259" y="124897"/>
            <a:ext cx="2320909" cy="751488"/>
          </a:xfrm>
          <a:prstGeom prst="rect">
            <a:avLst/>
          </a:prstGeom>
          <a:noFill/>
          <a:ln>
            <a:noFill/>
          </a:ln>
        </p:spPr>
        <p:txBody>
          <a:bodyPr spcFirstLastPara="1" wrap="square" lIns="0" tIns="12700" rIns="0" bIns="0" anchor="ctr" anchorCtr="0">
            <a:spAutoFit/>
          </a:bodyPr>
          <a:lstStyle/>
          <a:p>
            <a:pPr marL="12700">
              <a:lnSpc>
                <a:spcPct val="100000"/>
              </a:lnSpc>
              <a:buClr>
                <a:srgbClr val="04A2B9"/>
              </a:buClr>
              <a:buSzPts val="2400"/>
            </a:pPr>
            <a:r>
              <a:rPr lang="en-US" sz="2400" b="1" dirty="0">
                <a:solidFill>
                  <a:srgbClr val="04A2B9"/>
                </a:solidFill>
                <a:latin typeface="Proxima Nova" panose="020B0604020202020204"/>
                <a:sym typeface="Proxima Nova"/>
              </a:rPr>
              <a:t>References</a:t>
            </a:r>
            <a:br>
              <a:rPr lang="en-US" sz="2400" dirty="0">
                <a:solidFill>
                  <a:schemeClr val="tx1"/>
                </a:solidFill>
                <a:latin typeface="Proxima Nova" panose="020B0604020202020204"/>
              </a:rPr>
            </a:br>
            <a:endParaRPr sz="2400" b="1" dirty="0">
              <a:latin typeface="Proxima Nova" panose="020B0604020202020204"/>
              <a:ea typeface="Proxima Nova" panose="020B0604020202020204"/>
              <a:cs typeface="Proxima Nova" panose="020B0604020202020204"/>
              <a:sym typeface="Proxima Nova"/>
            </a:endParaRPr>
          </a:p>
        </p:txBody>
      </p:sp>
      <p:sp>
        <p:nvSpPr>
          <p:cNvPr id="3" name="TextBox 2">
            <a:extLst>
              <a:ext uri="{FF2B5EF4-FFF2-40B4-BE49-F238E27FC236}">
                <a16:creationId xmlns:a16="http://schemas.microsoft.com/office/drawing/2014/main" id="{4BFA8579-E1B6-E447-617A-C03A1DDFB554}"/>
              </a:ext>
            </a:extLst>
          </p:cNvPr>
          <p:cNvSpPr txBox="1"/>
          <p:nvPr/>
        </p:nvSpPr>
        <p:spPr>
          <a:xfrm>
            <a:off x="265580" y="1218011"/>
            <a:ext cx="11772346" cy="5047536"/>
          </a:xfrm>
          <a:prstGeom prst="rect">
            <a:avLst/>
          </a:prstGeom>
          <a:noFill/>
        </p:spPr>
        <p:txBody>
          <a:bodyPr wrap="square" rtlCol="0">
            <a:spAutoFit/>
          </a:bodyPr>
          <a:lstStyle/>
          <a:p>
            <a:pPr marL="285750" indent="-285750">
              <a:buFont typeface="Arial" panose="020B0604020202020204" pitchFamily="34" charset="0"/>
              <a:buChar char="•"/>
            </a:pPr>
            <a:r>
              <a:rPr lang="en-IN" b="1" dirty="0"/>
              <a:t>Karadag, B., Zaim, A. H., &amp; Akbulut, A.</a:t>
            </a:r>
            <a:r>
              <a:rPr lang="en-IN" dirty="0"/>
              <a:t> (2024). </a:t>
            </a:r>
            <a:r>
              <a:rPr lang="en-IN" i="1" dirty="0"/>
              <a:t>Blockchain in Finance: A Systematic Literature Review.</a:t>
            </a:r>
            <a:r>
              <a:rPr lang="en-IN" dirty="0"/>
              <a:t> </a:t>
            </a:r>
            <a:r>
              <a:rPr lang="en-IN" b="1" dirty="0" err="1"/>
              <a:t>Pressacademia</a:t>
            </a:r>
            <a:r>
              <a:rPr lang="en-IN" b="1" dirty="0"/>
              <a:t> Journal of Business, Economics and Finance</a:t>
            </a:r>
            <a:r>
              <a:rPr lang="en-IN" dirty="0"/>
              <a:t>, 13(1), 15–28.</a:t>
            </a:r>
            <a:br>
              <a:rPr lang="en-IN" dirty="0"/>
            </a:br>
            <a:r>
              <a:rPr lang="en-IN" dirty="0"/>
              <a:t>DOI: </a:t>
            </a:r>
            <a:r>
              <a:rPr lang="en-IN" dirty="0">
                <a:hlinkClick r:id="rId4"/>
              </a:rPr>
              <a:t>10.17261/Pressacademia.2024.1945</a:t>
            </a:r>
            <a:br>
              <a:rPr lang="en-IN" dirty="0"/>
            </a:br>
            <a:endParaRPr lang="en-IN" dirty="0"/>
          </a:p>
          <a:p>
            <a:pPr marL="285750" indent="-285750">
              <a:buFont typeface="Arial" panose="020B0604020202020204" pitchFamily="34" charset="0"/>
              <a:buChar char="•"/>
            </a:pPr>
            <a:r>
              <a:rPr lang="en-IN" b="1" dirty="0"/>
              <a:t>Islam, I., Munim, K. M., </a:t>
            </a:r>
            <a:r>
              <a:rPr lang="en-IN" b="1" dirty="0" err="1"/>
              <a:t>Oishwee</a:t>
            </a:r>
            <a:r>
              <a:rPr lang="en-IN" b="1" dirty="0"/>
              <a:t>, S. J., &amp; Rahman, M. M.</a:t>
            </a:r>
            <a:r>
              <a:rPr lang="en-IN" dirty="0"/>
              <a:t> (2020). </a:t>
            </a:r>
            <a:r>
              <a:rPr lang="en-IN" i="1" dirty="0"/>
              <a:t>A Critical Review of Concepts, Benefits, and Pitfalls of Blockchain Technology Using Concept Map.</a:t>
            </a:r>
            <a:r>
              <a:rPr lang="en-IN" dirty="0"/>
              <a:t> </a:t>
            </a:r>
            <a:r>
              <a:rPr lang="en-IN" b="1" dirty="0"/>
              <a:t>IEEE Access</a:t>
            </a:r>
            <a:r>
              <a:rPr lang="en-IN" dirty="0"/>
              <a:t>, 8, 68319–68343.</a:t>
            </a:r>
            <a:br>
              <a:rPr lang="en-IN" dirty="0"/>
            </a:br>
            <a:r>
              <a:rPr lang="en-IN" dirty="0"/>
              <a:t>DOI: 10.1109/ACCESS.2020.2985647</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Wu, H., Zhang, L., &amp; Chen, Z.</a:t>
            </a:r>
            <a:r>
              <a:rPr lang="en-IN" dirty="0"/>
              <a:t> (2024). </a:t>
            </a:r>
            <a:r>
              <a:rPr lang="en-IN" i="1" dirty="0"/>
              <a:t>Blockchain for Finance: A Survey.</a:t>
            </a:r>
            <a:r>
              <a:rPr lang="en-IN" dirty="0"/>
              <a:t> </a:t>
            </a:r>
            <a:r>
              <a:rPr lang="en-IN" b="1" dirty="0"/>
              <a:t>IET Research Journal on Blockchain and Distributed Ledger Technologies</a:t>
            </a:r>
            <a:r>
              <a:rPr lang="en-IN" dirty="0"/>
              <a:t>, 5(2), 44–63.</a:t>
            </a:r>
            <a:br>
              <a:rPr lang="en-IN" dirty="0"/>
            </a:br>
            <a:r>
              <a:rPr lang="en-IN" dirty="0"/>
              <a:t>arXiv:2402.17219v1</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Mohammed, M. A., De-Pablos-</a:t>
            </a:r>
            <a:r>
              <a:rPr lang="en-IN" b="1" dirty="0" err="1"/>
              <a:t>Heredero</a:t>
            </a:r>
            <a:r>
              <a:rPr lang="en-IN" b="1" dirty="0"/>
              <a:t>, C., &amp; Montes Botella, J. L.</a:t>
            </a:r>
            <a:r>
              <a:rPr lang="en-IN" dirty="0"/>
              <a:t> (2024). </a:t>
            </a:r>
            <a:r>
              <a:rPr lang="en-IN" i="1" dirty="0"/>
              <a:t>A Systematic Literature Review on the Revolutionary Impact of Blockchain in Modern Business.</a:t>
            </a:r>
            <a:r>
              <a:rPr lang="en-IN" dirty="0"/>
              <a:t> </a:t>
            </a:r>
            <a:r>
              <a:rPr lang="en-IN" b="1" dirty="0"/>
              <a:t>Applied Sciences</a:t>
            </a:r>
            <a:r>
              <a:rPr lang="en-IN" dirty="0"/>
              <a:t>, 14(5), 3211–3232.</a:t>
            </a:r>
            <a:br>
              <a:rPr lang="en-IN" dirty="0"/>
            </a:br>
            <a:r>
              <a:rPr lang="en-IN" dirty="0"/>
              <a:t>DOI: 10.3390/app14053211</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Sunny, F. A., Rahman, M. S., &amp; Hossain, M. M.</a:t>
            </a:r>
            <a:r>
              <a:rPr lang="en-IN" dirty="0"/>
              <a:t> (2022). </a:t>
            </a:r>
            <a:r>
              <a:rPr lang="en-IN" i="1" dirty="0"/>
              <a:t>A Systematic Review of Blockchain Applications.</a:t>
            </a:r>
            <a:r>
              <a:rPr lang="en-IN" dirty="0"/>
              <a:t> </a:t>
            </a:r>
            <a:r>
              <a:rPr lang="en-IN" b="1" dirty="0"/>
              <a:t>IEEE Access</a:t>
            </a:r>
            <a:r>
              <a:rPr lang="en-IN" dirty="0"/>
              <a:t>, 10, 75129–75158.</a:t>
            </a:r>
            <a:br>
              <a:rPr lang="en-IN" dirty="0"/>
            </a:br>
            <a:r>
              <a:rPr lang="en-IN" dirty="0"/>
              <a:t>DOI: 10.1109/ACCESS.2022.3186247</a:t>
            </a:r>
            <a:br>
              <a:rPr lang="en-IN" dirty="0"/>
            </a:br>
            <a:endParaRPr lang="en-IN" dirty="0"/>
          </a:p>
          <a:p>
            <a:pPr marL="285750" indent="-285750">
              <a:buFont typeface="Arial" panose="020B0604020202020204" pitchFamily="34" charset="0"/>
              <a:buChar char="•"/>
            </a:pPr>
            <a:r>
              <a:rPr lang="en-IN" b="1" dirty="0"/>
              <a:t>Ali, O., Ally, M., Clutterbuck, D., &amp; Dwivedi, Y. K.</a:t>
            </a:r>
            <a:r>
              <a:rPr lang="en-IN" dirty="0"/>
              <a:t> (2020). </a:t>
            </a:r>
            <a:r>
              <a:rPr lang="en-IN" i="1" dirty="0"/>
              <a:t>Annexure – Thematic Analysis on Blockchain Literature.</a:t>
            </a:r>
            <a:r>
              <a:rPr lang="en-IN" dirty="0"/>
              <a:t> In </a:t>
            </a:r>
            <a:r>
              <a:rPr lang="en-IN" i="1" dirty="0" err="1"/>
              <a:t>Solojano</a:t>
            </a:r>
            <a:r>
              <a:rPr lang="en-IN" i="1" dirty="0"/>
              <a:t> Annexure Dataset</a:t>
            </a:r>
            <a:r>
              <a:rPr lang="en-IN" dirty="0"/>
              <a:t> (pp. 1–20).</a:t>
            </a:r>
            <a:br>
              <a:rPr lang="en-IN" dirty="0"/>
            </a:br>
            <a:r>
              <a:rPr lang="en-IN" dirty="0"/>
              <a:t>Document ID: solojano,+annexure.pdf</a:t>
            </a:r>
          </a:p>
          <a:p>
            <a:endParaRPr lang="en-IN" dirty="0"/>
          </a:p>
        </p:txBody>
      </p:sp>
    </p:spTree>
    <p:extLst>
      <p:ext uri="{BB962C8B-B14F-4D97-AF65-F5344CB8AC3E}">
        <p14:creationId xmlns:p14="http://schemas.microsoft.com/office/powerpoint/2010/main" val="3928530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2011</TotalTime>
  <Words>1524</Words>
  <Application>Microsoft Office PowerPoint</Application>
  <PresentationFormat>Widescreen</PresentationFormat>
  <Paragraphs>137</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Times New Roman</vt:lpstr>
      <vt:lpstr>Wingdings</vt:lpstr>
      <vt:lpstr>Proxima Nova</vt:lpstr>
      <vt:lpstr>Calibri</vt:lpstr>
      <vt:lpstr>Arial</vt:lpstr>
      <vt:lpstr>Aptos</vt:lpstr>
      <vt:lpstr>Office Theme</vt:lpstr>
      <vt:lpstr>PowerPoint Presentation</vt:lpstr>
      <vt:lpstr>PowerPoint Presentation</vt:lpstr>
      <vt:lpstr>Outline</vt:lpstr>
      <vt:lpstr>Review 1 : suggestion</vt:lpstr>
      <vt:lpstr>Introduction</vt:lpstr>
      <vt:lpstr>Abstract</vt:lpstr>
      <vt:lpstr>Objective </vt:lpstr>
      <vt:lpstr>Motivation </vt:lpstr>
      <vt:lpstr>Literature Review </vt:lpstr>
      <vt:lpstr>Operational Flowchart of the BankSEC System</vt:lpstr>
      <vt:lpstr>Project Scheduling Gantt Chart</vt:lpstr>
      <vt:lpstr>Screenshot</vt:lpstr>
      <vt:lpstr>Tools &amp; Technologies</vt:lpstr>
      <vt:lpstr>Challenges</vt:lpstr>
      <vt:lpstr>Methodogy / Algorithm Description</vt:lpstr>
      <vt:lpstr>Result Section</vt:lpstr>
      <vt:lpstr>Conclusion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RUPESH SINGH</cp:lastModifiedBy>
  <cp:revision>199</cp:revision>
  <dcterms:created xsi:type="dcterms:W3CDTF">2023-12-05T07:58:57Z</dcterms:created>
  <dcterms:modified xsi:type="dcterms:W3CDTF">2026-01-30T22:02:18Z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ies>
</file>